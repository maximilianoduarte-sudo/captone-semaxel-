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E61E23-B9B2-1CF0-18D2-4783237AF25E}" v="2" dt="2026-10-15T01:08:48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PEDRO LEON FARIAS" userId="S::ju.leonfa@duocuc.cl::5f7a9f77-ff8e-4d2c-af70-0d8abdf12ca4" providerId="AD" clId="Web-{54E61E23-B9B2-1CF0-18D2-4783237AF25E}"/>
    <pc:docChg chg="addSld delSld">
      <pc:chgData name="JUAN PEDRO LEON FARIAS" userId="S::ju.leonfa@duocuc.cl::5f7a9f77-ff8e-4d2c-af70-0d8abdf12ca4" providerId="AD" clId="Web-{54E61E23-B9B2-1CF0-18D2-4783237AF25E}" dt="2026-10-15T01:08:48.692" v="1"/>
      <pc:docMkLst>
        <pc:docMk/>
      </pc:docMkLst>
      <pc:sldChg chg="del">
        <pc:chgData name="JUAN PEDRO LEON FARIAS" userId="S::ju.leonfa@duocuc.cl::5f7a9f77-ff8e-4d2c-af70-0d8abdf12ca4" providerId="AD" clId="Web-{54E61E23-B9B2-1CF0-18D2-4783237AF25E}" dt="2026-10-15T01:08:48.692" v="1"/>
        <pc:sldMkLst>
          <pc:docMk/>
          <pc:sldMk cId="0" sldId="256"/>
        </pc:sldMkLst>
      </pc:sldChg>
      <pc:sldChg chg="add">
        <pc:chgData name="JUAN PEDRO LEON FARIAS" userId="S::ju.leonfa@duocuc.cl::5f7a9f77-ff8e-4d2c-af70-0d8abdf12ca4" providerId="AD" clId="Web-{54E61E23-B9B2-1CF0-18D2-4783237AF25E}" dt="2026-10-15T01:08:42.676" v="0"/>
        <pc:sldMkLst>
          <pc:docMk/>
          <pc:sldMk cId="939960086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03764"/>
                </a:solidFill>
              </a:defRPr>
            </a:pPr>
            <a:r>
              <a:t>PRODUCT VISION BOARD - SEMAXEL OPS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728655" cy="1188720"/>
          </a:xfrm>
          <a:prstGeom prst="roundRect">
            <a:avLst/>
          </a:prstGeom>
          <a:solidFill>
            <a:srgbClr val="EBF1FA"/>
          </a:solidFill>
          <a:ln>
            <a:solidFill>
              <a:srgbClr val="203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03764"/>
                </a:solidFill>
              </a:defRPr>
            </a:pPr>
            <a:r>
              <a:t>👁 VISION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Profesionalizar y centralizar la gestión de mantenimiento técnico de infraestructura en organizaciones multisucursal, erradicando los canales informales para asegurar continuidad operacional, auditoría de trabajos y trazabilidad total.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993392" cy="3931920"/>
          </a:xfrm>
          <a:prstGeom prst="roundRect">
            <a:avLst/>
          </a:prstGeom>
          <a:solidFill>
            <a:srgbClr val="FAFAFC"/>
          </a:solidFill>
          <a:ln>
            <a:solidFill>
              <a:srgbClr val="E66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E6641E"/>
                </a:solidFill>
              </a:defRPr>
            </a:pPr>
            <a:r>
              <a:t>👥 Público Dirigido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Empresas con operaciones distribuidas.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Encargados de Local: Reporte inmediato sin trabas.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Técnicos de Terreno: Hoja de ruta móvil.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Gerencia: Control de SLA y costos.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2" y="2377440"/>
            <a:ext cx="1993392" cy="3931920"/>
          </a:xfrm>
          <a:prstGeom prst="roundRect">
            <a:avLst/>
          </a:prstGeom>
          <a:solidFill>
            <a:srgbClr val="FAFAFC"/>
          </a:solidFill>
          <a:ln>
            <a:solidFill>
              <a:srgbClr val="D2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D22828"/>
                </a:solidFill>
              </a:defRPr>
            </a:pPr>
            <a:r>
              <a:t>❤️ Necesidades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Erradicar fallas traspapeladas (WhatsApp).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Trazabilidad total del ticket.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Evidencia fotográfica de reparaciones.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Cumplimiento de SLAs.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2377440"/>
            <a:ext cx="1993392" cy="3931920"/>
          </a:xfrm>
          <a:prstGeom prst="roundRect">
            <a:avLst/>
          </a:prstGeom>
          <a:solidFill>
            <a:srgbClr val="FAFAFC"/>
          </a:solidFill>
          <a:ln>
            <a:solidFill>
              <a:srgbClr val="1E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E78DC"/>
                </a:solidFill>
              </a:defRPr>
            </a:pPr>
            <a:r>
              <a:t>📦 Producto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Plataforma Web SEMAXEL (Django, MySQL).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Catálogo digital (sin QR).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Generación de Tickets y OTs.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Cierre técnico con fotografía.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Dashboard preventivo.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2377440"/>
            <a:ext cx="1993392" cy="3931920"/>
          </a:xfrm>
          <a:prstGeom prst="roundRect">
            <a:avLst/>
          </a:prstGeom>
          <a:solidFill>
            <a:srgbClr val="FAFAFC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9688"/>
                </a:solidFill>
              </a:defRPr>
            </a:pPr>
            <a:r>
              <a:t>✨ Diferenciador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Cero dependencia de hardware físico (No QR, No Tags).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Asignación ágil tipo 'Marketplace' para técnicos.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Bloqueo estricto: OT no se cierra sin evidencia visual.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Motor de SLA integrado nativamente.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2377440"/>
            <a:ext cx="1993392" cy="3931920"/>
          </a:xfrm>
          <a:prstGeom prst="roundRect">
            <a:avLst/>
          </a:prstGeom>
          <a:solidFill>
            <a:srgbClr val="FAFAFC"/>
          </a:solidFill>
          <a:ln>
            <a:solidFill>
              <a:srgbClr val="783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7832AA"/>
                </a:solidFill>
              </a:defRPr>
            </a:pPr>
            <a:r>
              <a:t>🎯 Objetivos Negocio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Validar MVP funcional en Capstone al 100%.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Reducir a 0% la pérdida de incidentes.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Asignación técnica en minutos.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Base SaaS B2B escalable.</a:t>
            </a:r>
          </a:p>
        </p:txBody>
      </p:sp>
    </p:spTree>
    <p:extLst>
      <p:ext uri="{BB962C8B-B14F-4D97-AF65-F5344CB8AC3E}">
        <p14:creationId xmlns:p14="http://schemas.microsoft.com/office/powerpoint/2010/main" val="939960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03764"/>
                </a:solidFill>
              </a:defRPr>
            </a:pPr>
            <a:r>
              <a:t>PRODUCT GOAL CANVAS - SEMAXEL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7589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B41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41432"/>
                </a:solidFill>
              </a:defRPr>
            </a:pPr>
            <a:r>
              <a:rPr dirty="0">
                <a:solidFill>
                  <a:schemeClr val="tx1"/>
                </a:solidFill>
              </a:rPr>
              <a:t>PRODUCT GOAL DESCRIPTION (Summarize the Product Goal)</a:t>
            </a:r>
          </a:p>
          <a:p>
            <a:pPr>
              <a:defRPr sz="950"/>
            </a:pPr>
            <a:r>
              <a:rPr dirty="0" err="1">
                <a:solidFill>
                  <a:schemeClr val="tx1"/>
                </a:solidFill>
              </a:rPr>
              <a:t>Poner en marcha el MVP funcional de SEMAXEL para digitalizar el ciclo integral de mantenimiento correctivo y preventivo: reporte manual guiado de fallas, emisión de OTs móviles con cierre fotográfico y auditoría automática de tiempos SLA.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03920" y="822960"/>
            <a:ext cx="2956255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B41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B41432"/>
                </a:solidFill>
              </a:defRPr>
            </a:pPr>
            <a:r>
              <a:rPr>
                <a:solidFill>
                  <a:schemeClr val="tx1"/>
                </a:solidFill>
              </a:rPr>
              <a:t>TIMEFRAME (Horizon / Deadline)</a:t>
            </a:r>
          </a:p>
          <a:p>
            <a:pPr>
              <a:defRPr sz="1000"/>
            </a:pPr>
            <a:r>
              <a:rPr>
                <a:solidFill>
                  <a:schemeClr val="tx1"/>
                </a:solidFill>
              </a:rPr>
              <a:t>16 semanas lectivas organizadas en 4 Sprints (Capstone 2026).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rPr>
                <a:solidFill>
                  <a:schemeClr val="tx1"/>
                </a:solidFill>
              </a:rPr>
              <a:t>TARGET CUSTOMERS (Specific users or User Personas)</a:t>
            </a:r>
          </a:p>
          <a:p>
            <a:pPr>
              <a:defRPr sz="950"/>
            </a:pPr>
            <a:r>
              <a:rPr>
                <a:solidFill>
                  <a:schemeClr val="tx1"/>
                </a:solidFill>
              </a:rPr>
              <a:t>• Encargados de Local (Reportantes): Personal no técnico en sucursal que exige agilidad en 3 clics.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• Técnicos de Terreno (Ejecutores): Cuadrillas móviles con interfaz responsive para consultar OTs y cerrar con foto.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• Gerente de Operaciones (Cliente Interno / Decisor): Responsable de supervisar SLAs, presupuestos e infraestructura.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44728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3C3C3C"/>
                </a:solidFill>
              </a:defRPr>
            </a:pPr>
            <a:r>
              <a:rPr>
                <a:solidFill>
                  <a:schemeClr val="tx1"/>
                </a:solidFill>
              </a:rPr>
              <a:t>PROBLEM TO SOLVE</a:t>
            </a:r>
          </a:p>
          <a:p>
            <a:pPr>
              <a:defRPr sz="850"/>
            </a:pPr>
            <a:r>
              <a:rPr>
                <a:solidFill>
                  <a:schemeClr val="tx1"/>
                </a:solidFill>
              </a:rPr>
              <a:t>• Descontrol e informalidad: Reportes por WhatsApp sin folio ni auditoría.</a:t>
            </a:r>
          </a:p>
          <a:p>
            <a:pPr>
              <a:defRPr sz="850"/>
            </a:pPr>
            <a:r>
              <a:rPr>
                <a:solidFill>
                  <a:schemeClr val="tx1"/>
                </a:solidFill>
              </a:rPr>
              <a:t>• Tiempos muertos críticos: Demoras de días en la asignación técnica.</a:t>
            </a:r>
          </a:p>
          <a:p>
            <a:pPr>
              <a:defRPr sz="850"/>
            </a:pPr>
            <a:r>
              <a:rPr>
                <a:solidFill>
                  <a:schemeClr val="tx1"/>
                </a:solidFill>
              </a:rPr>
              <a:t>• Falta de comprobación: Sin respaldo objetivo de trabajos en terreno.</a:t>
            </a:r>
          </a:p>
          <a:p>
            <a:pPr>
              <a:defRPr sz="850"/>
            </a:pPr>
            <a:r>
              <a:rPr>
                <a:solidFill>
                  <a:schemeClr val="tx1"/>
                </a:solidFill>
              </a:rPr>
              <a:t>• Enfoque 100% reactivo: Cero planificación preventiva de activos.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3200400"/>
            <a:ext cx="344728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3C3C3C"/>
                </a:solidFill>
              </a:defRPr>
            </a:pPr>
            <a:r>
              <a:rPr dirty="0">
                <a:solidFill>
                  <a:schemeClr val="tx1"/>
                </a:solidFill>
              </a:rPr>
              <a:t>OUTCOMES</a:t>
            </a:r>
          </a:p>
          <a:p>
            <a:pPr>
              <a:defRPr sz="850"/>
            </a:pPr>
            <a:r>
              <a:rPr dirty="0">
                <a:solidFill>
                  <a:schemeClr val="tx1"/>
                </a:solidFill>
              </a:rPr>
              <a:t>• </a:t>
            </a:r>
            <a:r>
              <a:rPr dirty="0" err="1">
                <a:solidFill>
                  <a:schemeClr val="tx1"/>
                </a:solidFill>
              </a:rPr>
              <a:t>Estandarización</a:t>
            </a:r>
            <a:r>
              <a:rPr dirty="0">
                <a:solidFill>
                  <a:schemeClr val="tx1"/>
                </a:solidFill>
              </a:rPr>
              <a:t> del 100% de solicitudes bajo </a:t>
            </a:r>
            <a:r>
              <a:rPr dirty="0" err="1">
                <a:solidFill>
                  <a:schemeClr val="tx1"/>
                </a:solidFill>
              </a:rPr>
              <a:t>repositorio</a:t>
            </a:r>
            <a:r>
              <a:rPr dirty="0">
                <a:solidFill>
                  <a:schemeClr val="tx1"/>
                </a:solidFill>
              </a:rPr>
              <a:t> formal.</a:t>
            </a:r>
          </a:p>
          <a:p>
            <a:pPr>
              <a:defRPr sz="850"/>
            </a:pPr>
            <a:r>
              <a:rPr dirty="0">
                <a:solidFill>
                  <a:schemeClr val="tx1"/>
                </a:solidFill>
              </a:rPr>
              <a:t>• </a:t>
            </a:r>
            <a:r>
              <a:rPr dirty="0" err="1">
                <a:solidFill>
                  <a:schemeClr val="tx1"/>
                </a:solidFill>
              </a:rPr>
              <a:t>Reducción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comprobable</a:t>
            </a:r>
            <a:r>
              <a:rPr dirty="0">
                <a:solidFill>
                  <a:schemeClr val="tx1"/>
                </a:solidFill>
              </a:rPr>
              <a:t> del </a:t>
            </a:r>
            <a:r>
              <a:rPr dirty="0" err="1">
                <a:solidFill>
                  <a:schemeClr val="tx1"/>
                </a:solidFill>
              </a:rPr>
              <a:t>tiempo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inactividad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equipos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pPr>
              <a:defRPr sz="850"/>
            </a:pPr>
            <a:r>
              <a:rPr dirty="0">
                <a:solidFill>
                  <a:schemeClr val="tx1"/>
                </a:solidFill>
              </a:rPr>
              <a:t>• </a:t>
            </a:r>
            <a:r>
              <a:rPr dirty="0" err="1">
                <a:solidFill>
                  <a:schemeClr val="tx1"/>
                </a:solidFill>
              </a:rPr>
              <a:t>Visibilidad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gerencial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tiempo</a:t>
            </a:r>
            <a:r>
              <a:rPr dirty="0">
                <a:solidFill>
                  <a:schemeClr val="tx1"/>
                </a:solidFill>
              </a:rPr>
              <a:t> real con KPIs </a:t>
            </a:r>
            <a:r>
              <a:rPr dirty="0" err="1">
                <a:solidFill>
                  <a:schemeClr val="tx1"/>
                </a:solidFill>
              </a:rPr>
              <a:t>operativos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pPr>
              <a:defRPr sz="850"/>
            </a:pPr>
            <a:r>
              <a:rPr dirty="0">
                <a:solidFill>
                  <a:schemeClr val="tx1"/>
                </a:solidFill>
              </a:rPr>
              <a:t>• </a:t>
            </a:r>
            <a:r>
              <a:rPr dirty="0" err="1">
                <a:solidFill>
                  <a:schemeClr val="tx1"/>
                </a:solidFill>
              </a:rPr>
              <a:t>Cumplimiento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estricto</a:t>
            </a:r>
            <a:r>
              <a:rPr dirty="0">
                <a:solidFill>
                  <a:schemeClr val="tx1"/>
                </a:solidFill>
              </a:rPr>
              <a:t> de SLAs </a:t>
            </a:r>
            <a:r>
              <a:rPr dirty="0" err="1">
                <a:solidFill>
                  <a:schemeClr val="tx1"/>
                </a:solidFill>
              </a:rPr>
              <a:t>técnicos</a:t>
            </a:r>
            <a:r>
              <a:rPr dirty="0">
                <a:solidFill>
                  <a:schemeClr val="tx1"/>
                </a:solidFill>
              </a:rPr>
              <a:t> y </a:t>
            </a:r>
            <a:r>
              <a:rPr dirty="0" err="1">
                <a:solidFill>
                  <a:schemeClr val="tx1"/>
                </a:solidFill>
              </a:rPr>
              <a:t>operativos</a:t>
            </a:r>
            <a:r>
              <a:rPr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3200400"/>
            <a:ext cx="344728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3C3C3C"/>
                </a:solidFill>
              </a:defRPr>
            </a:pPr>
            <a:r>
              <a:rPr>
                <a:solidFill>
                  <a:schemeClr val="tx1"/>
                </a:solidFill>
              </a:rPr>
              <a:t>KEY RESULTS</a:t>
            </a:r>
          </a:p>
          <a:p>
            <a:pPr>
              <a:defRPr sz="850"/>
            </a:pPr>
            <a:r>
              <a:rPr>
                <a:solidFill>
                  <a:schemeClr val="tx1"/>
                </a:solidFill>
              </a:rPr>
              <a:t>• KR1: 100% de tickets generados por catálogo manual (0 QR).</a:t>
            </a:r>
          </a:p>
          <a:p>
            <a:pPr>
              <a:defRPr sz="850"/>
            </a:pPr>
            <a:r>
              <a:rPr>
                <a:solidFill>
                  <a:schemeClr val="tx1"/>
                </a:solidFill>
              </a:rPr>
              <a:t>• KR2: Algoritmo de SLA con 0% de desviación en pruebas QA.</a:t>
            </a:r>
          </a:p>
          <a:p>
            <a:pPr>
              <a:defRPr sz="850"/>
            </a:pPr>
            <a:r>
              <a:rPr>
                <a:solidFill>
                  <a:schemeClr val="tx1"/>
                </a:solidFill>
              </a:rPr>
              <a:t>• KR3: 100% de OTs resueltas con fotografía de evidencia.</a:t>
            </a:r>
          </a:p>
          <a:p>
            <a:pPr>
              <a:defRPr sz="850"/>
            </a:pPr>
            <a:r>
              <a:rPr>
                <a:solidFill>
                  <a:schemeClr val="tx1"/>
                </a:solidFill>
              </a:rPr>
              <a:t>• KR4: Dashboard gerencial interactivo conectado a MySQL.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rPr>
                <a:solidFill>
                  <a:schemeClr val="tx1"/>
                </a:solidFill>
              </a:rPr>
              <a:t>RISKS (What risks could prevent us from achieving this goal?)</a:t>
            </a:r>
          </a:p>
          <a:p>
            <a:pPr>
              <a:defRPr sz="950"/>
            </a:pPr>
            <a:r>
              <a:rPr>
                <a:solidFill>
                  <a:schemeClr val="tx1"/>
                </a:solidFill>
              </a:rPr>
              <a:t>• Resistencia al cambio o apego a canales de mensajería (WhatsApp) por personal de sucursal.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• Pérdida de conectividad móvil de los técnicos en recintos cerrados o subterráneos.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• Sobrecarga de storage por fotografías no comprimidas antes del envío.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• Desviación de cronograma por complejidad en lógica relacional Ticket-OT y cálculo de SLA.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587</Words>
  <Application>Microsoft Office PowerPoint</Application>
  <PresentationFormat>Widescreen</PresentationFormat>
  <Paragraphs>50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AV-Alumno</cp:lastModifiedBy>
  <cp:revision>5</cp:revision>
  <dcterms:created xsi:type="dcterms:W3CDTF">2013-01-27T09:14:16Z</dcterms:created>
  <dcterms:modified xsi:type="dcterms:W3CDTF">2026-10-15T01:08:53Z</dcterms:modified>
  <cp:category/>
</cp:coreProperties>
</file>