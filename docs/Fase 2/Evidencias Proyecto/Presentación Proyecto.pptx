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9F02C86D-1389-A69B-C5F9-12E608E52A9E}">
          <p14:sldIdLst>
            <p14:sldId id="256"/>
            <p14:sldId id="257"/>
          </p14:sldIdLst>
        </p14:section>
        <p14:section name="Problema y evidencia" id="{C0891AFE-BE27-E50F-24DC-200CD9BD5EC4}">
          <p14:sldIdLst>
            <p14:sldId id="258"/>
            <p14:sldId id="259"/>
          </p14:sldIdLst>
        </p14:section>
        <p14:section name="Qué desarrollamos" id="{109A23F4-424D-328C-CF51-C30983329165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ómo lo desarrollamos" id="{4CDDEE81-3F75-58F1-7CA4-02D42C513F6E}">
          <p14:sldIdLst>
            <p14:sldId id="266"/>
            <p14:sldId id="267"/>
            <p14:sldId id="268"/>
            <p14:sldId id="269"/>
            <p14:sldId id="270"/>
          </p14:sldIdLst>
        </p14:section>
        <p14:section name="Cómo demostramos que cumple" id="{F126C596-FCD1-CDDF-A48B-4B95014DDB1A}">
          <p14:sldIdLst>
            <p14:sldId id="271"/>
            <p14:sldId id="272"/>
            <p14:sldId id="273"/>
          </p14:sldIdLst>
        </p14:section>
        <p14:section name="Cierre" id="{BB5286C2-00AA-C39D-170A-B5B172DCA5D5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10-15T02:16:27.506"/>
    <p1510:client id="{622FFA5A-4271-9883-B808-8A409E60E3BE}" v="18" dt="2026-10-15T05:37:36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AS MAXIMILIANO GUALA PEREZ" userId="S::el.guala@duocuc.cl::c1945443-fafe-4518-aa0a-01c5998d4658" providerId="AD" clId="Web-{622FFA5A-4271-9883-B808-8A409E60E3BE}"/>
    <pc:docChg chg="modSld">
      <pc:chgData name="ELIAS MAXIMILIANO GUALA PEREZ" userId="S::el.guala@duocuc.cl::c1945443-fafe-4518-aa0a-01c5998d4658" providerId="AD" clId="Web-{622FFA5A-4271-9883-B808-8A409E60E3BE}" dt="2026-10-15T05:37:36.294" v="14" actId="20577"/>
      <pc:docMkLst>
        <pc:docMk/>
      </pc:docMkLst>
      <pc:sldChg chg="modSp">
        <pc:chgData name="ELIAS MAXIMILIANO GUALA PEREZ" userId="S::el.guala@duocuc.cl::c1945443-fafe-4518-aa0a-01c5998d4658" providerId="AD" clId="Web-{622FFA5A-4271-9883-B808-8A409E60E3BE}" dt="2026-10-15T05:37:36.294" v="14" actId="20577"/>
        <pc:sldMkLst>
          <pc:docMk/>
          <pc:sldMk cId="0" sldId="274"/>
        </pc:sldMkLst>
        <pc:spChg chg="mod">
          <ac:chgData name="ELIAS MAXIMILIANO GUALA PEREZ" userId="S::el.guala@duocuc.cl::c1945443-fafe-4518-aa0a-01c5998d4658" providerId="AD" clId="Web-{622FFA5A-4271-9883-B808-8A409E60E3BE}" dt="2026-10-15T05:37:01.762" v="11" actId="20577"/>
          <ac:spMkLst>
            <pc:docMk/>
            <pc:sldMk cId="0" sldId="274"/>
            <ac:spMk id="7" creationId="{00000000-0000-0000-0000-000000000000}"/>
          </ac:spMkLst>
        </pc:spChg>
        <pc:spChg chg="mod">
          <ac:chgData name="ELIAS MAXIMILIANO GUALA PEREZ" userId="S::el.guala@duocuc.cl::c1945443-fafe-4518-aa0a-01c5998d4658" providerId="AD" clId="Web-{622FFA5A-4271-9883-B808-8A409E60E3BE}" dt="2026-10-15T05:36:18.541" v="8" actId="20577"/>
          <ac:spMkLst>
            <pc:docMk/>
            <pc:sldMk cId="0" sldId="274"/>
            <ac:spMk id="11" creationId="{00000000-0000-0000-0000-000000000000}"/>
          </ac:spMkLst>
        </pc:spChg>
        <pc:spChg chg="mod">
          <ac:chgData name="ELIAS MAXIMILIANO GUALA PEREZ" userId="S::el.guala@duocuc.cl::c1945443-fafe-4518-aa0a-01c5998d4658" providerId="AD" clId="Web-{622FFA5A-4271-9883-B808-8A409E60E3BE}" dt="2026-10-15T05:36:28.307" v="9" actId="20577"/>
          <ac:spMkLst>
            <pc:docMk/>
            <pc:sldMk cId="0" sldId="274"/>
            <ac:spMk id="15" creationId="{00000000-0000-0000-0000-000000000000}"/>
          </ac:spMkLst>
        </pc:spChg>
        <pc:spChg chg="mod">
          <ac:chgData name="ELIAS MAXIMILIANO GUALA PEREZ" userId="S::el.guala@duocuc.cl::c1945443-fafe-4518-aa0a-01c5998d4658" providerId="AD" clId="Web-{622FFA5A-4271-9883-B808-8A409E60E3BE}" dt="2026-10-15T05:37:36.294" v="14" actId="20577"/>
          <ac:spMkLst>
            <pc:docMk/>
            <pc:sldMk cId="0" sldId="274"/>
            <ac:spMk id="19" creationId="{00000000-0000-0000-0000-000000000000}"/>
          </ac:spMkLst>
        </pc:spChg>
      </pc:sldChg>
    </pc:docChg>
  </pc:docChgLst>
  <pc:docChgLst>
    <pc:chgData name="JUAN PEDRO LEON FARIAS" userId="S::ju.leonfa@duocuc.cl::5f7a9f77-ff8e-4d2c-af70-0d8abdf12ca4" providerId="AD" clId="Web-{00000000-0000-0000-0000-000000000000}"/>
    <pc:docChg chg="sldOrd">
      <pc:chgData name="JUAN PEDRO LEON FARIAS" userId="S::ju.leonfa@duocuc.cl::5f7a9f77-ff8e-4d2c-af70-0d8abdf12ca4" providerId="AD" clId="Web-{00000000-0000-0000-0000-000000000000}" dt="2026-10-15T02:16:27.506" v="1"/>
      <pc:docMkLst>
        <pc:docMk/>
      </pc:docMkLst>
      <pc:sldChg chg="ord">
        <pc:chgData name="JUAN PEDRO LEON FARIAS" userId="S::ju.leonfa@duocuc.cl::5f7a9f77-ff8e-4d2c-af70-0d8abdf12ca4" providerId="AD" clId="Web-{00000000-0000-0000-0000-000000000000}" dt="2026-10-15T02:15:42.255" v="0"/>
        <pc:sldMkLst>
          <pc:docMk/>
          <pc:sldMk cId="0" sldId="257"/>
        </pc:sldMkLst>
      </pc:sldChg>
      <pc:sldChg chg="ord">
        <pc:chgData name="JUAN PEDRO LEON FARIAS" userId="S::ju.leonfa@duocuc.cl::5f7a9f77-ff8e-4d2c-af70-0d8abdf12ca4" providerId="AD" clId="Web-{00000000-0000-0000-0000-000000000000}" dt="2026-10-15T02:16:27.506" v="1"/>
        <pc:sldMkLst>
          <pc:docMk/>
          <pc:sldMk cId="0" sldId="27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7365D"/>
                </a:solidFill>
                <a:latin typeface="+mn-lt"/>
              </a:defRPr>
            </a:pPr>
            <a:r>
              <a:rPr sz="1800" b="0" i="0" u="none" strike="noStrike">
                <a:solidFill>
                  <a:srgbClr val="17365D"/>
                </a:solidFill>
                <a:latin typeface="+mn-lt"/>
              </a:rPr>
              <a:t>Requisitos funcionales por categoría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</c:v>
                </c:pt>
              </c:strCache>
            </c:strRef>
          </c:tx>
          <c:spPr>
            <a:solidFill>
              <a:srgbClr val="17365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1E293B"/>
                    </a:solidFill>
                    <a:latin typeface="+mn-lt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Preventivo</c:v>
                </c:pt>
                <c:pt idx="1">
                  <c:v>SLA</c:v>
                </c:pt>
                <c:pt idx="2">
                  <c:v>Técnicos</c:v>
                </c:pt>
                <c:pt idx="3">
                  <c:v>Empresas y sucursales</c:v>
                </c:pt>
                <c:pt idx="4">
                  <c:v>Indicadores</c:v>
                </c:pt>
                <c:pt idx="5">
                  <c:v>Órdenes de trabajo</c:v>
                </c:pt>
                <c:pt idx="6">
                  <c:v>Ofertas</c:v>
                </c:pt>
                <c:pt idx="7">
                  <c:v>Tickets</c:v>
                </c:pt>
                <c:pt idx="8">
                  <c:v>Usuarios y roles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5</c:v>
                </c:pt>
                <c:pt idx="7">
                  <c:v>7</c:v>
                </c:pt>
                <c:pt idx="8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3-4761-ACE8-CBD5204A7A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E293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AED54-2823-4C8A-8572-56DB7928511F}" type="datetimeFigureOut">
              <a:t>14/10/2026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F39B3-55B1-4C5B-BB29-2737A2D5ABAF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157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2. La presentación está ordenada según las 5 preguntas de la retroalimentación. Roles actualizados del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diapositiva indica arriba a qué pregunta responde.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se plantea como hipótesis. Quitamos las frases absolutas de la entrega 1 («nulo control», «altos costos», «la falta de mantenimiento destruye el valor de las empresas») porque no tenemos datos que las respalden.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hay contraparte. Separamos lo que identificaría una contraparte (nada aún), lo que supone el equipo y el beneficio que esperamos medir. El plan de validación es el compromiso para la entrega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Quitamos «garantizar el cumplimiento del 100 %». Cada objetivo específico tiene un indicador verificable. Los porcentajes del piloto son metas a medir, no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verde está implementado y verificado en el código. Lo amarillo está dentro del alcance pero pendiente. Lo gris queda para versiones futuras.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Matriz tomada del control de acceso del código. Gerencia es solo lectura. Los técnicos y las empresas los administra SEMAXEL (superusuario de la plataforma).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«Publicación de ofertas» no es un texto de otro proyecto: es el marketplace que asigna el trabajo a técnicos con la especialidad requerida. El gestor también puede publicar. Al cerrar la OT, el técnico se libera si no tiene otras OT activas.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límites de tiempo los decide el equipo SEMAXEL por prioridad; solo se ajustan si una empresa tiene un caso especial. Verificado en la prueba del 14/10/2026: el sistema calculó la fecha límite correcta al crear el ticket. El tiempo de respuesta se define pero aún no se mide, y no hay alertas automáticas: ambos quedan como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catálogo formal está en Registro_Requisitos_SEMAXEL.xlsx (RF-01 a RF-38 y RNF-01 a RNF-16). Faltan disponibilidad y respaldo, pedidos en la retroalimentación.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real de historia de usuario con criterios de aceptación. La definición de terminado es una propuesta del equipo que aplica a todas las historias.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Jira gestiona el trabajo y GitHub guarda el código, por eso ya no aparecen juntos como «Jira / GitHub (Product Backlog)». Mostrar el tablero en vivo si es posible.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Semana 1 = 10/08/2026. En Jira cada incremento son 4 sprints de una semana (16 sprints). Las semanas 17 y 18 son de defensa y cierre. Cada incremento depende del anterior. Esto corrige la inconsistencia de la entrega 1 (4 sprints de 2 semanas = 8 semanas). Hitos tomados del Acta de constitución.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Usuario → interfaz → backend Django → MySQL, más servicios de apoyo. SaaS sí aplica como plataforma multi-empresa con separación lógica de datos. PWA no: no hay manifest ni service worker, así que queda fuera del MVP. Despliegue propuesto: Gunicorn + Nginx +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entidad-relación simplificado, coherente con los modelos de Django y con el documento «Modelo de base de datos». En azul, el núcleo del flujo. N:M entre técnico y especialidad; 1:1 entre ticket y oferta, y entre ticket y orden de trabajo.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ticket SEMAXEL-00002 recorrió el flujo completo en la prueba de punta a punta: registro, oferta, OT, cierre y calificación.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gráficos se alimentan desde MySQL con agregaciones del ORM, no están escritos a 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Entrada, acción, resultado esperado y obtenido, como pidió la profesora. Todos los resultados son reales (14/10/2026). Los otros 5 casos ejecutados: rechazo de transición inválida, publicar oferta, modificar estados de la OT, historial y acceso al dashboard; todos aprobados. Las pruebas automatizadas cubren permisos por rol y empresa, formularios y reglas de negocio.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esperados, no garantizados: se medirán con los indicadores definidos.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5760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377440"/>
            <a:ext cx="5760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kern="0" spc="1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SEMAXEL · Entrega 2 · PTY4614 Capstone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1887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2"/>
                </a:solidFill>
              </a:rPr>
              <a:t>SEMAXEL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37744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accent6"/>
                </a:solidFill>
              </a:rPr>
              <a:t>Gestión del mantenimiento para cadenas de locales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Entrega 2 · PTY4614 Capstone · Duoc UC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Docente: Cindy Contador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489704"/>
            <a:ext cx="155448" cy="1554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389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Maximiliano Duarte</a:t>
            </a:r>
            <a:r>
              <a:rPr lang="en-US" sz="1800" dirty="0">
                <a:solidFill>
                  <a:schemeClr val="accent6"/>
                </a:solidFill>
              </a:rPr>
              <a:t> · Scrum Master / Líder QA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4965192"/>
            <a:ext cx="155448" cy="1554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48646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Juan León</a:t>
            </a:r>
            <a:r>
              <a:rPr lang="en-US" sz="1800" dirty="0">
                <a:solidFill>
                  <a:schemeClr val="accent6"/>
                </a:solidFill>
              </a:rPr>
              <a:t> · Product Owner / Redactor Técnico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440680"/>
            <a:ext cx="155448" cy="1554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53400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Elías Guala</a:t>
            </a:r>
            <a:r>
              <a:rPr lang="en-US" sz="1800" dirty="0">
                <a:solidFill>
                  <a:schemeClr val="accent6"/>
                </a:solidFill>
              </a:rPr>
              <a:t> · Desarrollador Fullstack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5916168"/>
            <a:ext cx="155448" cy="1554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581558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Sebastián Maturana</a:t>
            </a:r>
            <a:r>
              <a:rPr lang="en-US" sz="1800" dirty="0">
                <a:solidFill>
                  <a:schemeClr val="accent6"/>
                </a:solidFill>
              </a:rPr>
              <a:t> · Líder Técnico</a:t>
            </a:r>
            <a:endParaRPr lang="en-US" sz="1800" dirty="0"/>
          </a:p>
        </p:txBody>
      </p:sp>
      <p:sp>
        <p:nvSpPr>
          <p:cNvPr id="14" name="panel-portada"/>
          <p:cNvSpPr/>
          <p:nvPr/>
        </p:nvSpPr>
        <p:spPr>
          <a:xfrm>
            <a:off x="6812280" y="685800"/>
            <a:ext cx="4846320" cy="5486400"/>
          </a:xfrm>
          <a:prstGeom prst="roundRect">
            <a:avLst>
              <a:gd name="adj" fmla="val 188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59168" y="1755648"/>
            <a:ext cx="4352544" cy="2740914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6" name="Image 0" descr="/private/tmp/claude-502/-Users-sebastian-Desktop-duoc/cbf02913-8b32-4c36-9083-ce3043cc488e/scratchpad/ppt/img/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783080"/>
            <a:ext cx="4297680" cy="268605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086600" y="4663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Sistema implementado y funcionando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ENTREGA 2 · ESTRUCTURA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Esta presentación responde 5 preguntas</a:t>
            </a:r>
            <a:endParaRPr lang="en-US" sz="3600" dirty="0"/>
          </a:p>
        </p:txBody>
      </p:sp>
      <p:sp>
        <p:nvSpPr>
          <p:cNvPr id="4" name="pregunta-1"/>
          <p:cNvSpPr/>
          <p:nvPr/>
        </p:nvSpPr>
        <p:spPr>
          <a:xfrm>
            <a:off x="548640" y="1600200"/>
            <a:ext cx="1109167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530352" cy="53035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19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¿Qué problema real estamos resolviendo?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869680" y="16916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6"/>
                </a:solidFill>
              </a:rPr>
              <a:t>Diapositiva 3</a:t>
            </a:r>
            <a:endParaRPr lang="en-US" sz="1600" dirty="0"/>
          </a:p>
        </p:txBody>
      </p:sp>
      <p:sp>
        <p:nvSpPr>
          <p:cNvPr id="9" name="pregunta-2"/>
          <p:cNvSpPr/>
          <p:nvPr/>
        </p:nvSpPr>
        <p:spPr>
          <a:xfrm>
            <a:off x="548640" y="2514600"/>
            <a:ext cx="1109167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633472"/>
            <a:ext cx="530352" cy="53035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334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60604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¿Cómo comprobamos que existe?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6060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6"/>
                </a:solidFill>
              </a:rPr>
              <a:t>Diapositiva 4</a:t>
            </a:r>
            <a:endParaRPr lang="en-US" sz="1600" dirty="0"/>
          </a:p>
        </p:txBody>
      </p:sp>
      <p:sp>
        <p:nvSpPr>
          <p:cNvPr id="14" name="pregunta-3"/>
          <p:cNvSpPr/>
          <p:nvPr/>
        </p:nvSpPr>
        <p:spPr>
          <a:xfrm>
            <a:off x="548640" y="3429000"/>
            <a:ext cx="1109167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47872"/>
            <a:ext cx="530352" cy="53035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47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52044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¿Qué vamos a desarrollar exactamente?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35204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6"/>
                </a:solidFill>
              </a:rPr>
              <a:t>Diapositivas 5 a 10</a:t>
            </a:r>
            <a:endParaRPr lang="en-US" sz="1600" dirty="0"/>
          </a:p>
        </p:txBody>
      </p:sp>
      <p:sp>
        <p:nvSpPr>
          <p:cNvPr id="19" name="pregunta-4"/>
          <p:cNvSpPr/>
          <p:nvPr/>
        </p:nvSpPr>
        <p:spPr>
          <a:xfrm>
            <a:off x="548640" y="4343400"/>
            <a:ext cx="1109167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62272"/>
            <a:ext cx="530352" cy="53035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622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43484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¿Cómo lo desarrollamos y validamos?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44348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6"/>
                </a:solidFill>
              </a:rPr>
              <a:t>Diapositivas 11 a 15</a:t>
            </a:r>
            <a:endParaRPr lang="en-US" sz="1600" dirty="0"/>
          </a:p>
        </p:txBody>
      </p:sp>
      <p:sp>
        <p:nvSpPr>
          <p:cNvPr id="24" name="pregunta-5"/>
          <p:cNvSpPr/>
          <p:nvPr/>
        </p:nvSpPr>
        <p:spPr>
          <a:xfrm>
            <a:off x="548640" y="5257800"/>
            <a:ext cx="11091672" cy="768096"/>
          </a:xfrm>
          <a:prstGeom prst="roundRect">
            <a:avLst>
              <a:gd name="adj" fmla="val 1190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376672"/>
            <a:ext cx="530352" cy="53035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376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1600200" y="5349240"/>
            <a:ext cx="7223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¿Cómo demostramos que cumple?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53492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chemeClr val="accent6"/>
                </a:solidFill>
              </a:rPr>
              <a:t>Diapositivas 16 a 18</a:t>
            </a:r>
            <a:endParaRPr lang="en-US" sz="16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1 · ¿QUÉ PROBLEMA RESOLVEMOS?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mantenimiento se coordina por canales informales</a:t>
            </a:r>
            <a:endParaRPr lang="en-US" sz="3600" dirty="0"/>
          </a:p>
        </p:txBody>
      </p:sp>
      <p:sp>
        <p:nvSpPr>
          <p:cNvPr id="4" name="escenario"/>
          <p:cNvSpPr/>
          <p:nvPr/>
        </p:nvSpPr>
        <p:spPr>
          <a:xfrm>
            <a:off x="548640" y="1554480"/>
            <a:ext cx="5120640" cy="466344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1936699"/>
            <a:ext cx="332842" cy="33284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00200" y="1783080"/>
            <a:ext cx="640080" cy="640080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819" y="193669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23160" y="17830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Escenario hipotético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517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Una cadena con muchos locales reporta sus fallas por llamadas y WhatsApp, y el seguimiento se hace a mano.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Usuarios afectados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22960" y="443484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987552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Encargado de local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822960" y="498348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987552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Técnico de terreno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22960" y="5532120"/>
            <a:ext cx="356616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87552" y="5532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Jefatura de operaciones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Efectos esperados (hipótesis)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6126480" y="2240280"/>
            <a:ext cx="713232" cy="713232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656" y="2411456"/>
            <a:ext cx="370881" cy="37088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86600" y="222199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Sin registro único de la falla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7086600" y="265176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Queda repartida en chats y llamadas.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6126480" y="3566160"/>
            <a:ext cx="713232" cy="713232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7656" y="3737336"/>
            <a:ext cx="370881" cy="37088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86600" y="354787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Responsable y plazo poco claros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086600" y="3977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No queda claro quién atiende ni en cuánto tiempo.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6126480" y="4892040"/>
            <a:ext cx="713232" cy="713232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656" y="5063216"/>
            <a:ext cx="370881" cy="37088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086600" y="487375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Sin datos para decidir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086600" y="530352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Cuesta detectar fallas repetidas o estimar costos.</a:t>
            </a:r>
            <a:endParaRPr lang="en-US" sz="1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2 · ¿CÓMO COMPROBAMOS QUE EXISTE?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Todavía no tenemos contraparte real: lo validaremos</a:t>
            </a:r>
            <a:endParaRPr lang="en-US" sz="3600" dirty="0"/>
          </a:p>
        </p:txBody>
      </p:sp>
      <p:sp>
        <p:nvSpPr>
          <p:cNvPr id="4" name="aviso"/>
          <p:cNvSpPr/>
          <p:nvPr/>
        </p:nvSpPr>
        <p:spPr>
          <a:xfrm>
            <a:off x="548640" y="155448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64208"/>
            <a:ext cx="548640" cy="54864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179588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5544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Hoy no tenemos un cliente real. </a:t>
            </a:r>
            <a:r>
              <a:rPr lang="en-US" sz="1900" dirty="0">
                <a:solidFill>
                  <a:schemeClr val="tx1"/>
                </a:solidFill>
              </a:rPr>
              <a:t>El escenario es hipotético y lo construyó el equipo.</a:t>
            </a:r>
            <a:endParaRPr lang="en-US" sz="1900" dirty="0"/>
          </a:p>
        </p:txBody>
      </p:sp>
      <p:sp>
        <p:nvSpPr>
          <p:cNvPr id="8" name="col-0"/>
          <p:cNvSpPr/>
          <p:nvPr/>
        </p:nvSpPr>
        <p:spPr>
          <a:xfrm>
            <a:off x="548640" y="2560320"/>
            <a:ext cx="359359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743200"/>
            <a:ext cx="566928" cy="566928"/>
          </a:xfrm>
          <a:prstGeom prst="ellipse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287926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7157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Identificado con contraparte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520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Ninguno todavía</a:t>
            </a:r>
            <a:endParaRPr lang="en-US" sz="1800" dirty="0"/>
          </a:p>
        </p:txBody>
      </p:sp>
      <p:sp>
        <p:nvSpPr>
          <p:cNvPr id="13" name="col-1"/>
          <p:cNvSpPr/>
          <p:nvPr/>
        </p:nvSpPr>
        <p:spPr>
          <a:xfrm>
            <a:off x="4297680" y="2560320"/>
            <a:ext cx="359359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26280" y="2743200"/>
            <a:ext cx="566928" cy="566928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343" y="2879263"/>
            <a:ext cx="294803" cy="29480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12080" y="27157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Supuesto del equipo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0" y="3520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Reportes por llamada o WhatsApp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Seguimiento manual</a:t>
            </a:r>
            <a:endParaRPr lang="en-US" sz="1800" dirty="0"/>
          </a:p>
        </p:txBody>
      </p:sp>
      <p:sp>
        <p:nvSpPr>
          <p:cNvPr id="18" name="col-2"/>
          <p:cNvSpPr/>
          <p:nvPr/>
        </p:nvSpPr>
        <p:spPr>
          <a:xfrm>
            <a:off x="8046720" y="2560320"/>
            <a:ext cx="3593592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75320" y="2743200"/>
            <a:ext cx="566928" cy="566928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1383" y="287926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61120" y="27157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Beneficio esperado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321040" y="35204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Tickets trazables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SLA medido por el sistema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Plan de validación antes de la entrega final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26" name="Text 20"/>
          <p:cNvSpPr txBox="1"/>
          <p:nvPr/>
        </p:nvSpPr>
        <p:spPr>
          <a:xfrm>
            <a:off x="1207008" y="5212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Entrevistar a 2 o 3 encargados de local</a:t>
            </a:r>
            <a:endParaRPr lang="en-US" sz="1700" dirty="0"/>
          </a:p>
        </p:txBody>
      </p:sp>
      <p:sp>
        <p:nvSpPr>
          <p:cNvPr id="27" name="Shape 21"/>
          <p:cNvSpPr/>
          <p:nvPr/>
        </p:nvSpPr>
        <p:spPr>
          <a:xfrm>
            <a:off x="4297680" y="5349240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29768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4956048" y="5212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Observar el proceso actual de reporte</a:t>
            </a:r>
            <a:endParaRPr lang="en-US" sz="1700" dirty="0"/>
          </a:p>
        </p:txBody>
      </p:sp>
      <p:sp>
        <p:nvSpPr>
          <p:cNvPr id="30" name="Shape 24"/>
          <p:cNvSpPr/>
          <p:nvPr/>
        </p:nvSpPr>
        <p:spPr>
          <a:xfrm>
            <a:off x="8046720" y="5349240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046720" y="5349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32" name="Text 26"/>
          <p:cNvSpPr txBox="1"/>
          <p:nvPr/>
        </p:nvSpPr>
        <p:spPr>
          <a:xfrm>
            <a:off x="8705088" y="52120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Medir tiempos e incidencias base</a:t>
            </a:r>
            <a:endParaRPr lang="en-US" sz="1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3 · ¿QUÉ VAMOS A DESARROLLAR?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Objetivos medibles, sin promesas absolutas</a:t>
            </a:r>
            <a:endParaRPr lang="en-US" sz="3600" dirty="0"/>
          </a:p>
        </p:txBody>
      </p:sp>
      <p:sp>
        <p:nvSpPr>
          <p:cNvPr id="4" name="objetivo-general"/>
          <p:cNvSpPr/>
          <p:nvPr/>
        </p:nvSpPr>
        <p:spPr>
          <a:xfrm>
            <a:off x="548640" y="155448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0E7F1"/>
          </a:solidFill>
          <a:ln w="6350">
            <a:solidFill>
              <a:srgbClr val="E0E7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73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OBJETIVO GENERAL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2"/>
                </a:solidFill>
              </a:rPr>
              <a:t>Desarrollar un MVP web multi-empresa para registrar incidencias, asignarlas a técnicos y controlar su resolución con trazabilidad y SLA, validado con pruebas antes del 10/12/2026.</a:t>
            </a:r>
            <a:endParaRPr lang="en-US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1672" cy="2514600"/>
        </p:xfrm>
        <a:graphic>
          <a:graphicData uri="http://schemas.openxmlformats.org/drawingml/2006/table">
            <a:tbl>
              <a:tblPr/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Objetivo específico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Indicador de logro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1. Implementar los 38 requisitos funcionales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Cada RF con un caso de prueba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2. Controlar el acceso por rol y por empresa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Pruebas de permisos en verde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3. Calcular el SLA automáticamente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Fecha límite en cada ticket nuevo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E293B"/>
                          </a:solidFill>
                        </a:rPr>
                        <a:t>4. Validar el problema con una contraparte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2 entrevistas documentadas</a:t>
                      </a:r>
                      <a:endParaRPr lang="en-US" sz="1800" dirty="0"/>
                    </a:p>
                  </a:txBody>
                  <a:tcPr marL="128016" marR="12801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8064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Metas de un piloto (a medir): </a:t>
            </a:r>
            <a:r>
              <a:rPr lang="en-US" sz="1700" dirty="0">
                <a:solidFill>
                  <a:schemeClr val="accent6"/>
                </a:solidFill>
              </a:rPr>
              <a:t>≥ 95 % de tickets completos · ≥ 80 % de cumplimiento del SLA.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3 · ¿QUÉ VAMOS A DESARROLLAR?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Alcance del MVP: qué entra y qué queda fuera</a:t>
            </a:r>
            <a:endParaRPr lang="en-US" sz="3600" dirty="0"/>
          </a:p>
        </p:txBody>
      </p:sp>
      <p:sp>
        <p:nvSpPr>
          <p:cNvPr id="4" name="alcance-0"/>
          <p:cNvSpPr/>
          <p:nvPr/>
        </p:nvSpPr>
        <p:spPr>
          <a:xfrm>
            <a:off x="548640" y="1554480"/>
            <a:ext cx="3593592" cy="4663440"/>
          </a:xfrm>
          <a:prstGeom prst="roundRect">
            <a:avLst>
              <a:gd name="adj" fmla="val 2545"/>
            </a:avLst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03" y="187342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737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Implementado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514600"/>
            <a:ext cx="3200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Acceso con 5 roles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Registro de empresas y técnicos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Sucursales y encargados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Tickets con historial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Ofertas por especialidad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Órdenes de trabajo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SLA automático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Preventivo automático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Dashboard y reportes</a:t>
            </a:r>
            <a:endParaRPr lang="en-US" sz="1800" dirty="0"/>
          </a:p>
        </p:txBody>
      </p:sp>
      <p:sp>
        <p:nvSpPr>
          <p:cNvPr id="9" name="alcance-1"/>
          <p:cNvSpPr/>
          <p:nvPr/>
        </p:nvSpPr>
        <p:spPr>
          <a:xfrm>
            <a:off x="4297680" y="1554480"/>
            <a:ext cx="3593592" cy="4663440"/>
          </a:xfrm>
          <a:prstGeom prst="roundRect">
            <a:avLst>
              <a:gd name="adj" fmla="val 2545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737360"/>
            <a:ext cx="566928" cy="566928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2343" y="187342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30368" y="1737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Pendiente</a:t>
            </a:r>
            <a:endParaRPr lang="en-US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514600"/>
            <a:ext cx="3200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Validar con una contraparte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Despliegue en servidor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Prueba de aceptación (UAT)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Corregir hallazgos del código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RNF de disponibilidad y respaldo</a:t>
            </a:r>
            <a:endParaRPr lang="en-US" sz="1800" dirty="0"/>
          </a:p>
        </p:txBody>
      </p:sp>
      <p:sp>
        <p:nvSpPr>
          <p:cNvPr id="14" name="alcance-2"/>
          <p:cNvSpPr/>
          <p:nvPr/>
        </p:nvSpPr>
        <p:spPr>
          <a:xfrm>
            <a:off x="8046720" y="1554480"/>
            <a:ext cx="3593592" cy="4663440"/>
          </a:xfrm>
          <a:prstGeom prst="roundRect">
            <a:avLst>
              <a:gd name="adj" fmla="val 254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737360"/>
            <a:ext cx="566928" cy="566928"/>
          </a:xfrm>
          <a:prstGeom prst="ellipse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1383" y="187342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79408" y="17373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Fuera del MVP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8302752" y="2514600"/>
            <a:ext cx="32004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 instalable (PWA) y offline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Notificaciones por correo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Alertas de SLA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Foto al cerrar la OT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Calendario de preventivos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Exportar reportes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Códigos QR (descartado)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3 · ¿QUÉ VAMOS A DESARROLLAR?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Qué puede hacer cada usuario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727448"/>
        </p:xfrm>
        <a:graphic>
          <a:graphicData uri="http://schemas.openxmlformats.org/drawingml/2006/table">
            <a:tbl>
              <a:tblPr/>
              <a:tblGrid>
                <a:gridCol w="3502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9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Acción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Administrador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Gestor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Encargado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Técnico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Gerencia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Registrar ticket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Sus sucursales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Consultar tickets y OT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Su empresa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Su empresa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Sus sucursales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Sus OT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Su empresa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Publicar oferta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Tomar oferta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Su especialidad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Avanzar estado de la OT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7365D"/>
                          </a:solidFill>
                        </a:rPr>
                        <a:t>Solo la suya</a:t>
                      </a:r>
                      <a:endParaRPr lang="en-US" sz="15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Cerrar OT y calificar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Sucursales y preventivos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Dashboard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Reportes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E293B"/>
                          </a:solidFill>
                        </a:rPr>
                        <a:t>Usuarios de la empresa</a:t>
                      </a:r>
                      <a:endParaRPr lang="en-US" sz="17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CBD5E1"/>
                          </a:solidFill>
                        </a:rPr>
                        <a:t>—</a:t>
                      </a:r>
                      <a:endParaRPr lang="en-US" sz="2000" dirty="0"/>
                    </a:p>
                  </a:txBody>
                  <a:tcPr marL="109728" marR="109728" marT="27432" marB="27432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3 · ¿QUÉ VAMOS A DESARROLLAR?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Flujo del mantenimiento y reglas de negocio</a:t>
            </a:r>
            <a:endParaRPr lang="en-US" sz="3600" dirty="0"/>
          </a:p>
        </p:txBody>
      </p:sp>
      <p:sp>
        <p:nvSpPr>
          <p:cNvPr id="4" name="paso-1"/>
          <p:cNvSpPr/>
          <p:nvPr/>
        </p:nvSpPr>
        <p:spPr>
          <a:xfrm>
            <a:off x="548640" y="1554480"/>
            <a:ext cx="202996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Encargado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Registra el ticket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8986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Ticket ABIERTO con fecha SLA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06040" y="2468880"/>
            <a:ext cx="182880" cy="146304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paso-2"/>
          <p:cNvSpPr/>
          <p:nvPr/>
        </p:nvSpPr>
        <p:spPr>
          <a:xfrm>
            <a:off x="2807208" y="1554480"/>
            <a:ext cx="202996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44368" y="1691640"/>
            <a:ext cx="457200" cy="45720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4368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493008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Encargado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944368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Publica la oferta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8986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Ticket PUBLICADO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 rot="5400000">
            <a:off x="4864608" y="2468880"/>
            <a:ext cx="182880" cy="146304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paso-3"/>
          <p:cNvSpPr/>
          <p:nvPr/>
        </p:nvSpPr>
        <p:spPr>
          <a:xfrm>
            <a:off x="5065776" y="1554480"/>
            <a:ext cx="202996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02936" y="1691640"/>
            <a:ext cx="457200" cy="45720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02936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751576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Técnico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Toma la oferta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202936" y="28986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Se crea la OT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rot="5400000">
            <a:off x="7123176" y="2468880"/>
            <a:ext cx="182880" cy="146304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paso-4"/>
          <p:cNvSpPr/>
          <p:nvPr/>
        </p:nvSpPr>
        <p:spPr>
          <a:xfrm>
            <a:off x="7324344" y="1554480"/>
            <a:ext cx="202996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61504" y="1691640"/>
            <a:ext cx="457200" cy="45720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61504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010144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Técnico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461504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Ejecuta el trabajo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461504" y="28986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OT RESUELTA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 rot="5400000">
            <a:off x="9381744" y="2468880"/>
            <a:ext cx="182880" cy="146304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paso-5"/>
          <p:cNvSpPr/>
          <p:nvPr/>
        </p:nvSpPr>
        <p:spPr>
          <a:xfrm>
            <a:off x="9582912" y="1554480"/>
            <a:ext cx="2029968" cy="19659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20072" y="1691640"/>
            <a:ext cx="457200" cy="45720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20072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0268712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Encargado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9720072" y="228600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Cierra y califica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9720072" y="28986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Ticket CERRADO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794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Reglas de negocio</a:t>
            </a:r>
            <a:endParaRPr lang="en-US" sz="21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4297680"/>
            <a:ext cx="6309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Solo transiciones válidas (ABIERTO no pasa a CERRADO)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Cada cambio de estado queda en el historial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 la oferta vence, el ticket vuelve a revisión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 técnico no puede cerrar su propia OT</a:t>
            </a:r>
            <a:endParaRPr lang="en-US" sz="1800" dirty="0"/>
          </a:p>
        </p:txBody>
      </p:sp>
      <p:sp>
        <p:nvSpPr>
          <p:cNvPr id="40" name="ofertas"/>
          <p:cNvSpPr/>
          <p:nvPr/>
        </p:nvSpPr>
        <p:spPr>
          <a:xfrm>
            <a:off x="7086600" y="3794760"/>
            <a:ext cx="4553712" cy="2423160"/>
          </a:xfrm>
          <a:prstGeom prst="roundRect">
            <a:avLst>
              <a:gd name="adj" fmla="val 3774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152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¿Por qué «ofertas»?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0" y="4389120"/>
            <a:ext cx="4114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Así se asigna el trabajo: el encargado publica la falla y la toma un técnico disponible con la especialidad requerida.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7315200" y="55321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Ticket = falla · Oferta = trabajo publicado · OT = trabajo asignado</a:t>
            </a:r>
            <a:endParaRPr lang="en-US" sz="15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3 · ¿QUÉ VAMOS A DESARROLLAR?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Cómo se calcula y controla el SLA</a:t>
            </a:r>
            <a:endParaRPr lang="en-US" sz="3600" dirty="0"/>
          </a:p>
        </p:txBody>
      </p:sp>
      <p:sp>
        <p:nvSpPr>
          <p:cNvPr id="4" name="formula"/>
          <p:cNvSpPr/>
          <p:nvPr/>
        </p:nvSpPr>
        <p:spPr>
          <a:xfrm>
            <a:off x="548640" y="1554480"/>
            <a:ext cx="11091672" cy="1325880"/>
          </a:xfrm>
          <a:prstGeom prst="roundRect">
            <a:avLst>
              <a:gd name="adj" fmla="val 6897"/>
            </a:avLst>
          </a:prstGeom>
          <a:solidFill>
            <a:srgbClr val="E0E7F1"/>
          </a:solidFill>
          <a:ln w="6350">
            <a:solidFill>
              <a:srgbClr val="E0E7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Fecha límite</a:t>
            </a:r>
            <a:r>
              <a:rPr lang="en-US" sz="2400" dirty="0">
                <a:solidFill>
                  <a:schemeClr val="tx1"/>
                </a:solidFill>
              </a:rPr>
              <a:t>  =  </a:t>
            </a:r>
            <a:r>
              <a:rPr lang="en-US" sz="2400" b="1" dirty="0">
                <a:solidFill>
                  <a:schemeClr val="tx1"/>
                </a:solidFill>
              </a:rPr>
              <a:t>creación del ticket</a:t>
            </a:r>
            <a:r>
              <a:rPr lang="en-US" sz="2400" dirty="0">
                <a:solidFill>
                  <a:schemeClr val="tx1"/>
                </a:solidFill>
              </a:rPr>
              <a:t>  +  </a:t>
            </a:r>
            <a:r>
              <a:rPr lang="en-US" sz="2400" b="1" dirty="0">
                <a:solidFill>
                  <a:schemeClr val="tx2"/>
                </a:solidFill>
              </a:rPr>
              <a:t>tiempo de resolución según la prioridad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El sistema la calcula automáticamente al crear cada ticket.</a:t>
            </a:r>
            <a:endParaRPr lang="en-US" sz="1800" dirty="0"/>
          </a:p>
        </p:txBody>
      </p:sp>
      <p:sp>
        <p:nvSpPr>
          <p:cNvPr id="7" name="sla-0"/>
          <p:cNvSpPr/>
          <p:nvPr/>
        </p:nvSpPr>
        <p:spPr>
          <a:xfrm>
            <a:off x="548640" y="3200400"/>
            <a:ext cx="3593592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3429000"/>
            <a:ext cx="621792" cy="621792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02" y="3578230"/>
            <a:ext cx="323332" cy="3233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34290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¿Quién define los límites?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5196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SEMAXEL</a:t>
            </a:r>
            <a:r>
              <a:rPr lang="en-US" sz="1900" dirty="0">
                <a:solidFill>
                  <a:schemeClr val="tx1"/>
                </a:solidFill>
              </a:rPr>
              <a:t> decide los límites. Solo se ajustan si una empresa tiene un caso especial.</a:t>
            </a:r>
            <a:endParaRPr lang="en-US" sz="1900" dirty="0"/>
          </a:p>
        </p:txBody>
      </p:sp>
      <p:sp>
        <p:nvSpPr>
          <p:cNvPr id="12" name="sla-1"/>
          <p:cNvSpPr/>
          <p:nvPr/>
        </p:nvSpPr>
        <p:spPr>
          <a:xfrm>
            <a:off x="4297680" y="3200400"/>
            <a:ext cx="3593592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3712" y="3429000"/>
            <a:ext cx="621792" cy="621792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2942" y="3578230"/>
            <a:ext cx="323332" cy="3233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03520" y="34290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Cumplimiento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0" y="425196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chemeClr val="tx1"/>
                </a:solidFill>
              </a:rPr>
              <a:t>% de tickets cerrados antes de su fecha límite. Se ve en el dashboard y en los reportes.</a:t>
            </a:r>
            <a:endParaRPr lang="en-US" sz="1900" dirty="0"/>
          </a:p>
        </p:txBody>
      </p:sp>
      <p:sp>
        <p:nvSpPr>
          <p:cNvPr id="17" name="sla-2"/>
          <p:cNvSpPr/>
          <p:nvPr/>
        </p:nvSpPr>
        <p:spPr>
          <a:xfrm>
            <a:off x="8046720" y="3200400"/>
            <a:ext cx="3593592" cy="2651760"/>
          </a:xfrm>
          <a:prstGeom prst="roundRect">
            <a:avLst>
              <a:gd name="adj" fmla="val 3448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02752" y="3429000"/>
            <a:ext cx="621792" cy="621792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982" y="3578230"/>
            <a:ext cx="323332" cy="3233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052560" y="342900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¿Y si se incumple?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321040" y="4251960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Hoy: cuenta como fuera de plazo en el indicador</a:t>
            </a:r>
            <a:endParaRPr lang="en-US" sz="19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Aún no: alertas automáticas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3 · ¿QUÉ VAMOS A DESARROLLAR?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38 requisitos funcionales y 16 no funcionales</a:t>
            </a:r>
            <a:endParaRPr lang="en-US" sz="3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566928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3796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Requisitos no funcionales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37960" y="2057400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647688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Arquitectura modular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25712" y="2057400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235440" y="2057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Base de datos utf8mb4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37960" y="2487168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47688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Credenciales seguras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125712" y="2487168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235440" y="24871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Seguridad web (CSRF)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37960" y="2916936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647688" y="29169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Contraseñas seguras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9125712" y="2916936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235440" y="291693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Control de acceso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537960" y="3346704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47688" y="33467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Aislamiento por empresa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125712" y="3346704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35440" y="33467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Diseño responsive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537960" y="3776472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47688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Idioma es-CL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125712" y="3776472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235440" y="37764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Rendimiento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6537960" y="4206240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47688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Persistencia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9125712" y="4206240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235440" y="4206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Trazabilidad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537960" y="4636008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647688" y="4636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Mantenibilidad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9125712" y="4636008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235440" y="4636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Portabilidad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537960" y="5065776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647688" y="50657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Pruebas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125712" y="5065776"/>
            <a:ext cx="2487168" cy="365760"/>
          </a:xfrm>
          <a:prstGeom prst="roundRect">
            <a:avLst>
              <a:gd name="adj" fmla="val 17500"/>
            </a:avLst>
          </a:prstGeom>
          <a:solidFill>
            <a:schemeClr val="bg2"/>
          </a:solidFill>
          <a:ln w="6350">
            <a:solidFill>
              <a:srgbClr val="F1F5F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235440" y="506577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Escalabilidad</a:t>
            </a:r>
            <a:endParaRPr lang="en-US" sz="1500" dirty="0"/>
          </a:p>
        </p:txBody>
      </p:sp>
      <p:sp>
        <p:nvSpPr>
          <p:cNvPr id="38" name="rnf-pendientes"/>
          <p:cNvSpPr/>
          <p:nvPr/>
        </p:nvSpPr>
        <p:spPr>
          <a:xfrm>
            <a:off x="6537960" y="5577840"/>
            <a:ext cx="5074920" cy="640080"/>
          </a:xfrm>
          <a:prstGeom prst="roundRect">
            <a:avLst>
              <a:gd name="adj" fmla="val 14286"/>
            </a:avLst>
          </a:prstGeom>
          <a:solidFill>
            <a:srgbClr val="FEF3C7"/>
          </a:solidFill>
          <a:ln w="6350">
            <a:solidFill>
              <a:srgbClr val="FEF3C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20840" y="5577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Por incorporar: </a:t>
            </a:r>
            <a:r>
              <a:rPr lang="en-US" sz="1700" dirty="0">
                <a:solidFill>
                  <a:schemeClr val="tx1"/>
                </a:solidFill>
              </a:rPr>
              <a:t>disponibilidad y respaldo.</a:t>
            </a:r>
            <a:endParaRPr lang="en-US" sz="1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4 · ¿CÓMO LO DESARROLLAMOS Y VALIDAMOS?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Scrum aplicado: artefactos y definición de terminado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" cy="658368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17582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636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Product Backlog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18 historias con criterios, en 4 épicas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679192"/>
            <a:ext cx="658368" cy="658368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2837200"/>
            <a:ext cx="342351" cy="342351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26426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Sprint Backlog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04495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Tareas por sprint con responsable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3758184"/>
            <a:ext cx="658368" cy="658368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3916192"/>
            <a:ext cx="342351" cy="3423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37216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chemeClr val="tx2"/>
                </a:solidFill>
              </a:rPr>
              <a:t>Incremento</a:t>
            </a:r>
            <a:endParaRPr lang="en-US" sz="21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41239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Software funcionando en GitHub</a:t>
            </a:r>
            <a:endParaRPr lang="en-US" sz="1700" dirty="0"/>
          </a:p>
        </p:txBody>
      </p:sp>
      <p:sp>
        <p:nvSpPr>
          <p:cNvPr id="16" name="hu-ejemplo"/>
          <p:cNvSpPr/>
          <p:nvPr/>
        </p:nvSpPr>
        <p:spPr>
          <a:xfrm>
            <a:off x="6400800" y="1554480"/>
            <a:ext cx="5239512" cy="3246120"/>
          </a:xfrm>
          <a:prstGeom prst="roundRect">
            <a:avLst>
              <a:gd name="adj" fmla="val 2817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629400" y="1691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EJEMPLO REAL · HU-02 (SMX-46)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629400" y="20116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chemeClr val="tx2"/>
                </a:solidFill>
              </a:rPr>
              <a:t>Como encargado de local, quiero registrar una incidencia con tipo, descripción y prioridad, para informar el problema.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Criterios de aceptación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629400" y="3401568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Exige tipo y descripción</a:t>
            </a:r>
            <a:endParaRPr lang="en-US" sz="18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Permite elegir la prioridad</a:t>
            </a:r>
            <a:endParaRPr lang="en-US" sz="18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 un número único</a:t>
            </a:r>
            <a:endParaRPr lang="en-US" sz="18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Guarda fecha y hora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49834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Definición de terminado (propuesta del equipo)</a:t>
            </a:r>
            <a:endParaRPr lang="en-US" sz="1900" dirty="0"/>
          </a:p>
        </p:txBody>
      </p:sp>
      <p:sp>
        <p:nvSpPr>
          <p:cNvPr id="22" name="dod-0"/>
          <p:cNvSpPr/>
          <p:nvPr/>
        </p:nvSpPr>
        <p:spPr>
          <a:xfrm>
            <a:off x="548640" y="54406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76656" y="5440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✓ </a:t>
            </a:r>
            <a:r>
              <a:rPr lang="en-US" sz="1600" dirty="0">
                <a:solidFill>
                  <a:schemeClr val="tx1"/>
                </a:solidFill>
              </a:rPr>
              <a:t>Criterios cumplidos</a:t>
            </a:r>
            <a:endParaRPr lang="en-US" sz="1600" dirty="0"/>
          </a:p>
        </p:txBody>
      </p:sp>
      <p:sp>
        <p:nvSpPr>
          <p:cNvPr id="24" name="dod-1"/>
          <p:cNvSpPr/>
          <p:nvPr/>
        </p:nvSpPr>
        <p:spPr>
          <a:xfrm>
            <a:off x="2788920" y="54406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2916936" y="5440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✓ </a:t>
            </a:r>
            <a:r>
              <a:rPr lang="en-US" sz="1600" dirty="0">
                <a:solidFill>
                  <a:schemeClr val="tx1"/>
                </a:solidFill>
              </a:rPr>
              <a:t>Código en GitHub</a:t>
            </a:r>
            <a:endParaRPr lang="en-US" sz="1600" dirty="0"/>
          </a:p>
        </p:txBody>
      </p:sp>
      <p:sp>
        <p:nvSpPr>
          <p:cNvPr id="26" name="dod-2"/>
          <p:cNvSpPr/>
          <p:nvPr/>
        </p:nvSpPr>
        <p:spPr>
          <a:xfrm>
            <a:off x="5029200" y="54406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157216" y="5440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✓ </a:t>
            </a:r>
            <a:r>
              <a:rPr lang="en-US" sz="1600" dirty="0">
                <a:solidFill>
                  <a:schemeClr val="tx1"/>
                </a:solidFill>
              </a:rPr>
              <a:t>Pruebas en verde</a:t>
            </a:r>
            <a:endParaRPr lang="en-US" sz="1600" dirty="0"/>
          </a:p>
        </p:txBody>
      </p:sp>
      <p:sp>
        <p:nvSpPr>
          <p:cNvPr id="28" name="dod-3"/>
          <p:cNvSpPr/>
          <p:nvPr/>
        </p:nvSpPr>
        <p:spPr>
          <a:xfrm>
            <a:off x="7269480" y="54406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397496" y="5440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✓ </a:t>
            </a:r>
            <a:r>
              <a:rPr lang="en-US" sz="1600" dirty="0">
                <a:solidFill>
                  <a:schemeClr val="tx1"/>
                </a:solidFill>
              </a:rPr>
              <a:t>Revisión del Líder Técnico</a:t>
            </a:r>
            <a:endParaRPr lang="en-US" sz="1600" dirty="0"/>
          </a:p>
        </p:txBody>
      </p:sp>
      <p:sp>
        <p:nvSpPr>
          <p:cNvPr id="30" name="dod-4"/>
          <p:cNvSpPr/>
          <p:nvPr/>
        </p:nvSpPr>
        <p:spPr>
          <a:xfrm>
            <a:off x="9509760" y="54406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9637776" y="54406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✓ </a:t>
            </a:r>
            <a:r>
              <a:rPr lang="en-US" sz="1600" dirty="0">
                <a:solidFill>
                  <a:schemeClr val="tx1"/>
                </a:solidFill>
              </a:rPr>
              <a:t>Aprobado por QA y PO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4 · ¿CÓMO LO DESARROLLAMOS Y VALIDAMOS?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Evidencia en Jira: backlog, sprints y responsables</a:t>
            </a:r>
            <a:endParaRPr lang="en-US" sz="3600" dirty="0"/>
          </a:p>
        </p:txBody>
      </p:sp>
      <p:sp>
        <p:nvSpPr>
          <p:cNvPr id="4" name="stat-0"/>
          <p:cNvSpPr/>
          <p:nvPr/>
        </p:nvSpPr>
        <p:spPr>
          <a:xfrm>
            <a:off x="548640" y="155448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4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épicas</a:t>
            </a:r>
            <a:endParaRPr lang="en-US" sz="1600" dirty="0"/>
          </a:p>
        </p:txBody>
      </p:sp>
      <p:sp>
        <p:nvSpPr>
          <p:cNvPr id="7" name="stat-1"/>
          <p:cNvSpPr/>
          <p:nvPr/>
        </p:nvSpPr>
        <p:spPr>
          <a:xfrm>
            <a:off x="2788920" y="155448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8892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18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historias de usuario</a:t>
            </a:r>
            <a:endParaRPr lang="en-US" sz="1600" dirty="0"/>
          </a:p>
        </p:txBody>
      </p:sp>
      <p:sp>
        <p:nvSpPr>
          <p:cNvPr id="10" name="stat-2"/>
          <p:cNvSpPr/>
          <p:nvPr/>
        </p:nvSpPr>
        <p:spPr>
          <a:xfrm>
            <a:off x="5029200" y="155448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7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tareas de gestión y QA</a:t>
            </a:r>
            <a:endParaRPr lang="en-US" sz="1600" dirty="0"/>
          </a:p>
        </p:txBody>
      </p:sp>
      <p:sp>
        <p:nvSpPr>
          <p:cNvPr id="13" name="stat-3"/>
          <p:cNvSpPr/>
          <p:nvPr/>
        </p:nvSpPr>
        <p:spPr>
          <a:xfrm>
            <a:off x="7269480" y="155448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17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subtareas</a:t>
            </a:r>
            <a:endParaRPr lang="en-US" sz="1600" dirty="0"/>
          </a:p>
        </p:txBody>
      </p:sp>
      <p:sp>
        <p:nvSpPr>
          <p:cNvPr id="16" name="stat-4"/>
          <p:cNvSpPr/>
          <p:nvPr/>
        </p:nvSpPr>
        <p:spPr>
          <a:xfrm>
            <a:off x="9509760" y="1554480"/>
            <a:ext cx="210312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0" y="16002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16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0" y="2331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6"/>
                </a:solidFill>
              </a:rPr>
              <a:t>sprints semanales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063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Épicas del proyecto SMX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6812280" cy="219456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563EB"/>
                          </a:solidFill>
                        </a:rPr>
                        <a:t>SMX-36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MVP técnico y accesos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HU-08, 15, 16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563EB"/>
                          </a:solidFill>
                        </a:rPr>
                        <a:t>SMX-37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Flujo de reporte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HU-01 a 04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563EB"/>
                          </a:solidFill>
                        </a:rPr>
                        <a:t>SMX-38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Portal técnico y SLA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HU-05, 06, 07, 09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563EB"/>
                          </a:solidFill>
                        </a:rPr>
                        <a:t>SMX-39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Preventivo e indicadores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293B"/>
                          </a:solidFill>
                        </a:rPr>
                        <a:t>HU-10 a 14, 17, 18</a:t>
                      </a:r>
                      <a:endParaRPr lang="en-US" sz="17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jira-resp"/>
          <p:cNvSpPr/>
          <p:nvPr/>
        </p:nvSpPr>
        <p:spPr>
          <a:xfrm>
            <a:off x="7635240" y="3063240"/>
            <a:ext cx="4005072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863840" y="32004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Responsables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7863840" y="36576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Elías: historias y subtareas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Maximiliano: gestión y QA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Juan (PO): prioriza el backlog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Sebastián: épicas y revisión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7863840" y="55778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Jira = backlog y sprints · GitHub = código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4 · ¿CÓMO LO DESARROLLAMOS Y VALIDAMOS?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16 semanas en 4 incrementos, con hitos y responsables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3611880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217566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912458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Oct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97264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Nov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2071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057904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03928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949952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4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395976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5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842000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6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88024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7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34048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8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80072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9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26096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72120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518144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964168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410192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56216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302240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48264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1194288" y="1783080"/>
            <a:ext cx="446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6"/>
                </a:solidFill>
              </a:rPr>
              <a:t>18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178308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Semana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2075688"/>
            <a:ext cx="11091672" cy="484632"/>
          </a:xfrm>
          <a:prstGeom prst="rect">
            <a:avLst/>
          </a:prstGeom>
          <a:solidFill>
            <a:schemeClr val="bg2"/>
          </a:solidFill>
          <a:ln w="3175">
            <a:solidFill>
              <a:srgbClr val="F1F5F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0080" y="2093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Inc. 1 · MVP y accesos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23408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Elías · Sebastián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39312" y="2167128"/>
            <a:ext cx="1729232" cy="310896"/>
          </a:xfrm>
          <a:prstGeom prst="roundRect">
            <a:avLst>
              <a:gd name="adj" fmla="val 23529"/>
            </a:avLst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2596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Inc. 2 · Flujo de reporte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28437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Elías · Juan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23408" y="2670048"/>
            <a:ext cx="1729232" cy="310896"/>
          </a:xfrm>
          <a:prstGeom prst="roundRect">
            <a:avLst>
              <a:gd name="adj" fmla="val 23529"/>
            </a:avLst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3081528"/>
            <a:ext cx="11091672" cy="484632"/>
          </a:xfrm>
          <a:prstGeom prst="rect">
            <a:avLst/>
          </a:prstGeom>
          <a:solidFill>
            <a:schemeClr val="bg2"/>
          </a:solidFill>
          <a:ln w="3175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3099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Inc. 3 · Portal técnico y SLA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3467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Elías · Maximiliano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07504" y="3172968"/>
            <a:ext cx="1729232" cy="310896"/>
          </a:xfrm>
          <a:prstGeom prst="roundRect">
            <a:avLst>
              <a:gd name="adj" fmla="val 23529"/>
            </a:avLst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3602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Inc. 4 · Preventivo y KPI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384962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Elías · Maximiliano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991600" y="3675888"/>
            <a:ext cx="1729232" cy="310896"/>
          </a:xfrm>
          <a:prstGeom prst="roundRect">
            <a:avLst>
              <a:gd name="adj" fmla="val 23529"/>
            </a:avLst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4087368"/>
            <a:ext cx="11091672" cy="484632"/>
          </a:xfrm>
          <a:prstGeom prst="rect">
            <a:avLst/>
          </a:prstGeom>
          <a:solidFill>
            <a:schemeClr val="bg2"/>
          </a:solidFill>
          <a:ln w="3175">
            <a:solidFill>
              <a:srgbClr val="F1F5F9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4105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Validación con contraparte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43525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Juan · Maximiliano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653528" y="4178808"/>
            <a:ext cx="2175256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0080" y="46085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QA final y despliegue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485546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Maximiliano · Elías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437624" y="4681728"/>
            <a:ext cx="128320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5093208"/>
            <a:ext cx="11091672" cy="484632"/>
          </a:xfrm>
          <a:prstGeom prst="rect">
            <a:avLst/>
          </a:prstGeom>
          <a:solidFill>
            <a:schemeClr val="bg2"/>
          </a:solidFill>
          <a:ln w="3175">
            <a:solidFill>
              <a:srgbClr val="F1F5F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0080" y="51114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Defensa y cierre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35838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Equipo completo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0775696" y="5184648"/>
            <a:ext cx="837184" cy="310896"/>
          </a:xfrm>
          <a:prstGeom prst="roundRect">
            <a:avLst>
              <a:gd name="adj" fmla="val 23529"/>
            </a:avLst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11392" y="5870448"/>
            <a:ext cx="219456" cy="219456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9600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H1 · 15/09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096199" y="5870448"/>
            <a:ext cx="219456" cy="219456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74407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H2 · 20/10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9679584" y="5870448"/>
            <a:ext cx="219456" cy="219456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057792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H3 · 15/11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1329873" y="5870448"/>
            <a:ext cx="219456" cy="219456"/>
          </a:xfrm>
          <a:prstGeom prst="diamond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708081" y="6108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Final · 10/12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817886" y="2029968"/>
            <a:ext cx="914" cy="3593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62" name="Text 60"/>
          <p:cNvSpPr txBox="1"/>
          <p:nvPr/>
        </p:nvSpPr>
        <p:spPr>
          <a:xfrm>
            <a:off x="7269246" y="560527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Hoy 14/10</a:t>
            </a:r>
            <a:endParaRPr lang="en-US" sz="130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4 · ¿CÓMO LO DESARROLLAMOS Y VALIDAMOS?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Arquitectura web en capas, multi-empresa</a:t>
            </a:r>
            <a:endParaRPr lang="en-US" sz="3600" dirty="0"/>
          </a:p>
        </p:txBody>
      </p:sp>
      <p:sp>
        <p:nvSpPr>
          <p:cNvPr id="4" name="capa-0"/>
          <p:cNvSpPr/>
          <p:nvPr/>
        </p:nvSpPr>
        <p:spPr>
          <a:xfrm>
            <a:off x="548640" y="1554480"/>
            <a:ext cx="694944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64208"/>
            <a:ext cx="457200" cy="457200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739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554480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Usuario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1554480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Navegador en computador o celular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 rot="10800000">
            <a:off x="2011680" y="2240280"/>
            <a:ext cx="182880" cy="9144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capa-1"/>
          <p:cNvSpPr/>
          <p:nvPr/>
        </p:nvSpPr>
        <p:spPr>
          <a:xfrm>
            <a:off x="548640" y="2340864"/>
            <a:ext cx="6949440" cy="676656"/>
          </a:xfrm>
          <a:prstGeom prst="roundRect">
            <a:avLst>
              <a:gd name="adj" fmla="val 13514"/>
            </a:avLst>
          </a:prstGeom>
          <a:solidFill>
            <a:srgbClr val="E0E7F1"/>
          </a:solidFill>
          <a:ln w="6350">
            <a:solidFill>
              <a:srgbClr val="E0E7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450592"/>
            <a:ext cx="457200" cy="457200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256032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2340864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Presentación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17520" y="2340864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Plantillas Django, Bootstrap 5 y Chart.js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 rot="10800000">
            <a:off x="2011680" y="3026664"/>
            <a:ext cx="182880" cy="9144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capa-2"/>
          <p:cNvSpPr/>
          <p:nvPr/>
        </p:nvSpPr>
        <p:spPr>
          <a:xfrm>
            <a:off x="548640" y="3127248"/>
            <a:ext cx="694944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236976"/>
            <a:ext cx="457200" cy="457200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46704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0160" y="3127248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Aplicación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3017520" y="3127248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Django 5.2 en 9 módulos (tickets, ofertas, SLA…)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 rot="10800000">
            <a:off x="2011680" y="3813048"/>
            <a:ext cx="182880" cy="9144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capa-3"/>
          <p:cNvSpPr/>
          <p:nvPr/>
        </p:nvSpPr>
        <p:spPr>
          <a:xfrm>
            <a:off x="548640" y="3913632"/>
            <a:ext cx="6949440" cy="676656"/>
          </a:xfrm>
          <a:prstGeom prst="roundRect">
            <a:avLst>
              <a:gd name="adj" fmla="val 13514"/>
            </a:avLst>
          </a:prstGeom>
          <a:solidFill>
            <a:srgbClr val="E0E7F1"/>
          </a:solidFill>
          <a:ln w="6350">
            <a:solidFill>
              <a:srgbClr val="E0E7F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13308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80160" y="3913632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Lógica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3017520" y="3913632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Permisos por rol, estados, SLA y vencimientos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 rot="10800000">
            <a:off x="2011680" y="4599432"/>
            <a:ext cx="182880" cy="9144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capa-4"/>
          <p:cNvSpPr/>
          <p:nvPr/>
        </p:nvSpPr>
        <p:spPr>
          <a:xfrm>
            <a:off x="548640" y="4700016"/>
            <a:ext cx="6949440" cy="676656"/>
          </a:xfrm>
          <a:prstGeom prst="roundRect">
            <a:avLst>
              <a:gd name="adj" fmla="val 135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85800" y="4809744"/>
            <a:ext cx="457200" cy="457200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" y="4919472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280160" y="4700016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Datos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3017520" y="4700016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MySQL 8 con 18 tablas, vía ORM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 rot="10800000">
            <a:off x="2011680" y="5385816"/>
            <a:ext cx="182880" cy="91440"/>
          </a:xfrm>
          <a:prstGeom prst="triangl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capa-5"/>
          <p:cNvSpPr/>
          <p:nvPr/>
        </p:nvSpPr>
        <p:spPr>
          <a:xfrm>
            <a:off x="548640" y="5486400"/>
            <a:ext cx="6949440" cy="676656"/>
          </a:xfrm>
          <a:prstGeom prst="roundRect">
            <a:avLst>
              <a:gd name="adj" fmla="val 13514"/>
            </a:avLst>
          </a:prstGeom>
          <a:solidFill>
            <a:srgbClr val="E0E7F1"/>
          </a:solidFill>
          <a:ln w="6350">
            <a:solidFill>
              <a:srgbClr val="E0E7F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85800" y="5596128"/>
            <a:ext cx="457200" cy="457200"/>
          </a:xfrm>
          <a:prstGeom prst="ellipse">
            <a:avLst/>
          </a:prstGeom>
          <a:solidFill>
            <a:srgbClr val="17365D"/>
          </a:solidFill>
          <a:ln w="6350">
            <a:solidFill>
              <a:srgbClr val="17365D"/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28" y="5705856"/>
            <a:ext cx="237744" cy="23774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280160" y="5486400"/>
            <a:ext cx="1691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Servicios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3017520" y="5486400"/>
            <a:ext cx="4389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Tareas programadas y GitHub</a:t>
            </a:r>
            <a:endParaRPr lang="en-US" sz="1600" dirty="0"/>
          </a:p>
        </p:txBody>
      </p:sp>
      <p:sp>
        <p:nvSpPr>
          <p:cNvPr id="39" name="sp-0"/>
          <p:cNvSpPr/>
          <p:nvPr/>
        </p:nvSpPr>
        <p:spPr>
          <a:xfrm>
            <a:off x="7818120" y="1554480"/>
            <a:ext cx="3822192" cy="2212848"/>
          </a:xfrm>
          <a:prstGeom prst="roundRect">
            <a:avLst>
              <a:gd name="adj" fmla="val 413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8028432" y="1755648"/>
            <a:ext cx="566928" cy="566928"/>
          </a:xfrm>
          <a:prstGeom prst="ellipse">
            <a:avLst/>
          </a:prstGeom>
          <a:solidFill>
            <a:srgbClr val="16A34A"/>
          </a:solidFill>
          <a:ln w="6350">
            <a:solidFill>
              <a:srgbClr val="16A34A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4495" y="1891711"/>
            <a:ext cx="294803" cy="294803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732520" y="17556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SaaS multi-empresa: sí</a:t>
            </a:r>
            <a:endParaRPr lang="en-US" sz="1900" dirty="0"/>
          </a:p>
        </p:txBody>
      </p:sp>
      <p:sp>
        <p:nvSpPr>
          <p:cNvPr id="43" name="Text 34"/>
          <p:cNvSpPr txBox="1"/>
          <p:nvPr/>
        </p:nvSpPr>
        <p:spPr>
          <a:xfrm>
            <a:off x="8046720" y="25146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Cada empresa ve solo sus datos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Aislamiento probado con tests</a:t>
            </a:r>
            <a:endParaRPr lang="en-US" sz="1800" dirty="0"/>
          </a:p>
        </p:txBody>
      </p:sp>
      <p:sp>
        <p:nvSpPr>
          <p:cNvPr id="44" name="sp-1"/>
          <p:cNvSpPr/>
          <p:nvPr/>
        </p:nvSpPr>
        <p:spPr>
          <a:xfrm>
            <a:off x="7818120" y="3931920"/>
            <a:ext cx="3822192" cy="2212848"/>
          </a:xfrm>
          <a:prstGeom prst="roundRect">
            <a:avLst>
              <a:gd name="adj" fmla="val 4132"/>
            </a:avLst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8028432" y="4133088"/>
            <a:ext cx="566928" cy="566928"/>
          </a:xfrm>
          <a:prstGeom prst="ellipse">
            <a:avLst/>
          </a:prstGeom>
          <a:solidFill>
            <a:srgbClr val="64748B"/>
          </a:solidFill>
          <a:ln w="6350">
            <a:solidFill>
              <a:srgbClr val="64748B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4495" y="4269151"/>
            <a:ext cx="294803" cy="294803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732520" y="413308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PWA: no en el MVP</a:t>
            </a:r>
            <a:endParaRPr lang="en-US" sz="1900" dirty="0"/>
          </a:p>
        </p:txBody>
      </p:sp>
      <p:sp>
        <p:nvSpPr>
          <p:cNvPr id="48" name="Text 38"/>
          <p:cNvSpPr txBox="1"/>
          <p:nvPr/>
        </p:nvSpPr>
        <p:spPr>
          <a:xfrm>
            <a:off x="8046720" y="48920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Web responsive para celular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 instalación ni modo offline</a:t>
            </a:r>
            <a:endParaRPr lang="en-US" sz="18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4 · ¿CÓMO LO DESARROLLAMOS Y VALIDAMOS?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Modelo de datos: entidades principales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377440" y="192024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91156" y="178308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91156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N:1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90872" y="192024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4588" y="178308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4588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17736" y="192024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31452" y="178308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31452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N:1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76472" y="2240280"/>
            <a:ext cx="914" cy="10058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7872" y="260604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7872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77440" y="356616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1156" y="342900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91156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N:1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90872" y="356616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4588" y="342900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4588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04304" y="356616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8020" y="342900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18020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317736" y="356616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31452" y="342900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31452" y="3429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N:1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716768" y="2240280"/>
            <a:ext cx="914" cy="10058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88168" y="260604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88168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N:M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V="1">
            <a:off x="6089904" y="2240280"/>
            <a:ext cx="2313432" cy="10058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18020" y="260604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18020" y="2606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N:1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089904" y="3886200"/>
            <a:ext cx="914" cy="10058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61304" y="425196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61304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1:1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90872" y="5212080"/>
            <a:ext cx="484632" cy="914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4588" y="507492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04588" y="50749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 flipV="1">
            <a:off x="7004304" y="3886200"/>
            <a:ext cx="3712464" cy="132588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31936" y="441198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631936" y="44119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 flipV="1">
            <a:off x="1463040" y="3886200"/>
            <a:ext cx="3986784" cy="100584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27832" y="4251960"/>
            <a:ext cx="457200" cy="2743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227832" y="4251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1:N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48640" y="160020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4864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Usuario</a:t>
            </a:r>
            <a:endParaRPr lang="en-US" sz="1700" dirty="0"/>
          </a:p>
        </p:txBody>
      </p:sp>
      <p:sp>
        <p:nvSpPr>
          <p:cNvPr id="48" name="Shape 46"/>
          <p:cNvSpPr/>
          <p:nvPr/>
        </p:nvSpPr>
        <p:spPr>
          <a:xfrm>
            <a:off x="2862072" y="160020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862072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Empresa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5175504" y="160020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75504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Política SLA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7488936" y="160020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8936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Categoría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9802368" y="160020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802368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Especialidad</a:t>
            </a:r>
            <a:endParaRPr lang="en-US" sz="1700" dirty="0"/>
          </a:p>
        </p:txBody>
      </p:sp>
      <p:sp>
        <p:nvSpPr>
          <p:cNvPr id="56" name="Shape 54"/>
          <p:cNvSpPr/>
          <p:nvPr/>
        </p:nvSpPr>
        <p:spPr>
          <a:xfrm>
            <a:off x="548640" y="324612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4864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Plan preventivo</a:t>
            </a:r>
            <a:endParaRPr lang="en-US" sz="1700" dirty="0"/>
          </a:p>
        </p:txBody>
      </p:sp>
      <p:sp>
        <p:nvSpPr>
          <p:cNvPr id="58" name="Shape 56"/>
          <p:cNvSpPr/>
          <p:nvPr/>
        </p:nvSpPr>
        <p:spPr>
          <a:xfrm>
            <a:off x="2862072" y="324612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62072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Sucursal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5175504" y="3246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9525">
            <a:solidFill>
              <a:srgbClr val="17365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175504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Ticket</a:t>
            </a:r>
            <a:endParaRPr lang="en-US" sz="1700" dirty="0"/>
          </a:p>
        </p:txBody>
      </p:sp>
      <p:sp>
        <p:nvSpPr>
          <p:cNvPr id="62" name="Shape 60"/>
          <p:cNvSpPr/>
          <p:nvPr/>
        </p:nvSpPr>
        <p:spPr>
          <a:xfrm>
            <a:off x="7488936" y="3246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9525">
            <a:solidFill>
              <a:srgbClr val="17365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488936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Oferta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9802368" y="324612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802368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Técnico</a:t>
            </a:r>
            <a:endParaRPr lang="en-US" sz="1700" dirty="0"/>
          </a:p>
        </p:txBody>
      </p:sp>
      <p:sp>
        <p:nvSpPr>
          <p:cNvPr id="66" name="Shape 64"/>
          <p:cNvSpPr/>
          <p:nvPr/>
        </p:nvSpPr>
        <p:spPr>
          <a:xfrm>
            <a:off x="548640" y="489204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48640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Historial</a:t>
            </a:r>
            <a:endParaRPr lang="en-US" sz="1700" dirty="0"/>
          </a:p>
        </p:txBody>
      </p:sp>
      <p:sp>
        <p:nvSpPr>
          <p:cNvPr id="68" name="Shape 66"/>
          <p:cNvSpPr/>
          <p:nvPr/>
        </p:nvSpPr>
        <p:spPr>
          <a:xfrm>
            <a:off x="2862072" y="489204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2862072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2"/>
                </a:solidFill>
              </a:rPr>
              <a:t>Calificación</a:t>
            </a:r>
            <a:endParaRPr lang="en-US" sz="1700" dirty="0"/>
          </a:p>
        </p:txBody>
      </p:sp>
      <p:sp>
        <p:nvSpPr>
          <p:cNvPr id="70" name="Shape 68"/>
          <p:cNvSpPr/>
          <p:nvPr/>
        </p:nvSpPr>
        <p:spPr>
          <a:xfrm>
            <a:off x="5175504" y="489204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17365D"/>
          </a:solidFill>
          <a:ln w="9525">
            <a:solidFill>
              <a:srgbClr val="17365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175504" y="4892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Orden de trabajo</a:t>
            </a:r>
            <a:endParaRPr lang="en-US" sz="1700" dirty="0"/>
          </a:p>
        </p:txBody>
      </p:sp>
      <p:sp>
        <p:nvSpPr>
          <p:cNvPr id="72" name="Text 70"/>
          <p:cNvSpPr txBox="1"/>
          <p:nvPr/>
        </p:nvSpPr>
        <p:spPr>
          <a:xfrm>
            <a:off x="7863840" y="5257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Vista simplificada. La base completa tiene 18 tablas en MySQL.</a:t>
            </a:r>
            <a:endParaRPr lang="en-US" sz="1600" dirty="0"/>
          </a:p>
        </p:txBody>
      </p:sp>
      <p:sp>
        <p:nvSpPr>
          <p:cNvPr id="7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5 · ¿CÓMO DEMOSTRAMOS QUE CUMPLE?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El sistema ya está implementado y funciona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21208" y="1618488"/>
            <a:ext cx="3621024" cy="2283714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/private/tmp/claude-502/-Users-sebastian-Desktop-duoc/cbf02913-8b32-4c36-9083-ce3043cc488e/scratchpad/ppt/img/s_ticket_detal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566160" cy="2228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07593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Ticket con su historial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7827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Encargado · RF-15, 18, 19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83964" y="1618488"/>
            <a:ext cx="3621024" cy="2283714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1" descr="/private/tmp/claude-502/-Users-sebastian-Desktop-duoc/cbf02913-8b32-4c36-9083-ce3043cc488e/scratchpad/ppt/img/s_oferta_detal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396" y="1645920"/>
            <a:ext cx="3566160" cy="22288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11396" y="407593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Oferta para técnicos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311396" y="447827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Técnico · RF-22, 24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8046720" y="1618488"/>
            <a:ext cx="3621024" cy="2283714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3" name="Image 2" descr="/private/tmp/claude-502/-Users-sebastian-Desktop-duoc/cbf02913-8b32-4c36-9083-ce3043cc488e/scratchpad/ppt/img/s_orden_detal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4152" y="1645920"/>
            <a:ext cx="3566160" cy="22288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74152" y="407593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Orden de trabajo cerrada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074152" y="447827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Encargado · RF-28, 30</a:t>
            </a:r>
            <a:endParaRPr lang="en-US" sz="1600" dirty="0"/>
          </a:p>
        </p:txBody>
      </p:sp>
      <p:sp>
        <p:nvSpPr>
          <p:cNvPr id="16" name="nota-capturas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77724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Capturas del software real, </a:t>
            </a:r>
            <a:r>
              <a:rPr lang="en-US" sz="1800" dirty="0">
                <a:solidFill>
                  <a:schemeClr val="tx1"/>
                </a:solidFill>
              </a:rPr>
              <a:t>no del prototipo (14/10/2026, datos de demostración).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5 · ¿CÓMO DEMOSTRAMOS QUE CUMPLE?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Dashboard y reportes calculados por el sistema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6912864" cy="4341114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5" name="Image 0" descr="/private/tmp/claude-502/-Users-sebastian-Desktop-duoc/cbf02913-8b32-4c36-9083-ce3043cc488e/scratchpad/ppt/img/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6858000" cy="42862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97789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Dashboard del administrador (datos de demostración)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90688" y="1572768"/>
            <a:ext cx="3877056" cy="2443734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1" descr="/private/tmp/claude-502/-Users-sebastian-Desktop-duoc/cbf02913-8b32-4c36-9083-ce3043cc488e/scratchpad/ppt/img/s_repor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600200"/>
            <a:ext cx="3822192" cy="238887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4114800"/>
            <a:ext cx="38221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Indicadores según el rol (RF-35)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Reportes por sucursal, técnico y estado (RF-36)</a:t>
            </a:r>
            <a:endParaRPr lang="en-US" sz="18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Cumplimiento del SLA automático (RF-32)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PREGUNTA 5 · ¿CÓMO DEMOSTRAMOS QUE CUMPLE?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Pruebas automatizadas y del flujo completo</a:t>
            </a:r>
            <a:endParaRPr lang="en-US" sz="3600" dirty="0"/>
          </a:p>
        </p:txBody>
      </p:sp>
      <p:sp>
        <p:nvSpPr>
          <p:cNvPr id="4" name="qa-stat-0"/>
          <p:cNvSpPr/>
          <p:nvPr/>
        </p:nvSpPr>
        <p:spPr>
          <a:xfrm>
            <a:off x="548640" y="1554480"/>
            <a:ext cx="5449824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tx2"/>
                </a:solidFill>
              </a:rPr>
              <a:t>97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554480"/>
            <a:ext cx="3931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pruebas automatizadas en verde</a:t>
            </a:r>
            <a:endParaRPr lang="en-US" sz="1800" dirty="0"/>
          </a:p>
        </p:txBody>
      </p:sp>
      <p:sp>
        <p:nvSpPr>
          <p:cNvPr id="7" name="qa-stat-1"/>
          <p:cNvSpPr/>
          <p:nvPr/>
        </p:nvSpPr>
        <p:spPr>
          <a:xfrm>
            <a:off x="6190488" y="1554480"/>
            <a:ext cx="5449824" cy="960120"/>
          </a:xfrm>
          <a:prstGeom prst="roundRect">
            <a:avLst>
              <a:gd name="adj" fmla="val 9524"/>
            </a:avLst>
          </a:prstGeom>
          <a:solidFill>
            <a:srgbClr val="DCFCE7"/>
          </a:solidFill>
          <a:ln w="6350">
            <a:solidFill>
              <a:srgbClr val="DCFC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19088" y="155448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4"/>
                </a:solidFill>
              </a:rPr>
              <a:t>10 / 10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8339328" y="1554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casos del flujo principal aprobados (14/10/2026)</a:t>
            </a:r>
            <a:endParaRPr lang="en-US" sz="1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Entrada y acción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Resultado esperado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Resultado obtenido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Estado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Registrar incidencia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Encargado crea ticket ALTA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Ticket ABIERTO, n° único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SEMAXEL-00002 ABIERTO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PASS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Calcular SLA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Ticket de prioridad ALTA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Límite según su prioridad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Límite correcto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PASS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Asignar OT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Técnico toma la oferta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OT ASIGNADA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OT #5 ASIGNADA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PASS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Técnico no cierra su OT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Técnico intenta cerrarla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Rechazado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OT sigue RESUELTA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PASS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</a:rPr>
                        <a:t>Cerrar OT y calificar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Encargado cierra con nota 5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CERRADO y nota guardada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</a:rPr>
                        <a:t>CERRADO con nota 5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A34A"/>
                          </a:solidFill>
                        </a:rPr>
                        <a:t>PASS</a:t>
                      </a:r>
                      <a:endParaRPr lang="en-US" sz="1600" dirty="0"/>
                    </a:p>
                  </a:txBody>
                  <a:tcPr marT="36576" marB="36576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6"/>
                </a:solidFill>
              </a:rPr>
              <a:t>Resultado obtenido = ejecución real sobre el sistema.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256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chemeClr val="accent2"/>
                </a:solidFill>
              </a:rPr>
              <a:t>CIERRE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Respuestas a las 5 preguntas y próximos pasos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544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¿Qué problema?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3852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 err="1">
                <a:solidFill>
                  <a:srgbClr val="64748B"/>
                </a:solidFill>
              </a:rPr>
              <a:t>falta</a:t>
            </a:r>
            <a:r>
              <a:rPr lang="en-US" sz="1700" dirty="0">
                <a:solidFill>
                  <a:srgbClr val="64748B"/>
                </a:solidFill>
              </a:rPr>
              <a:t> de </a:t>
            </a:r>
            <a:r>
              <a:rPr lang="en-US" sz="1700" dirty="0" err="1">
                <a:solidFill>
                  <a:srgbClr val="64748B"/>
                </a:solidFill>
              </a:rPr>
              <a:t>centralización</a:t>
            </a:r>
            <a:r>
              <a:rPr lang="en-US" sz="1700" dirty="0">
                <a:solidFill>
                  <a:srgbClr val="64748B"/>
                </a:solidFill>
              </a:rPr>
              <a:t> </a:t>
            </a:r>
            <a:r>
              <a:rPr lang="en-US" sz="1700" dirty="0" err="1">
                <a:solidFill>
                  <a:srgbClr val="64748B"/>
                </a:solidFill>
              </a:rPr>
              <a:t>en</a:t>
            </a:r>
            <a:r>
              <a:rPr lang="en-US" sz="1700" dirty="0">
                <a:solidFill>
                  <a:srgbClr val="64748B"/>
                </a:solidFill>
              </a:rPr>
              <a:t> la </a:t>
            </a:r>
            <a:r>
              <a:rPr lang="en-US" sz="1700" dirty="0" err="1">
                <a:solidFill>
                  <a:srgbClr val="64748B"/>
                </a:solidFill>
              </a:rPr>
              <a:t>gestión</a:t>
            </a:r>
            <a:r>
              <a:rPr lang="en-US" sz="1700" dirty="0">
                <a:solidFill>
                  <a:srgbClr val="64748B"/>
                </a:solidFill>
              </a:rPr>
              <a:t> de </a:t>
            </a:r>
            <a:r>
              <a:rPr lang="en-US" sz="1700" dirty="0" err="1">
                <a:solidFill>
                  <a:srgbClr val="64748B"/>
                </a:solidFill>
              </a:rPr>
              <a:t>fallas</a:t>
            </a:r>
            <a:r>
              <a:rPr lang="en-US" sz="1700" dirty="0">
                <a:solidFill>
                  <a:srgbClr val="64748B"/>
                </a:solidFill>
              </a:rPr>
              <a:t> de </a:t>
            </a:r>
            <a:r>
              <a:rPr lang="en-US" sz="1700" dirty="0" err="1">
                <a:solidFill>
                  <a:srgbClr val="64748B"/>
                </a:solidFill>
              </a:rPr>
              <a:t>infraestructura</a:t>
            </a:r>
            <a:endParaRPr lang="en-US" sz="1700" dirty="0" err="1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596896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8716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¿Cómo comprobamos que existe?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7121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 dirty="0">
                <a:solidFill>
                  <a:schemeClr val="accent6"/>
                </a:solidFill>
              </a:rPr>
              <a:t>Mediante </a:t>
            </a:r>
            <a:r>
              <a:rPr lang="en-US" sz="1700" dirty="0" err="1">
                <a:solidFill>
                  <a:schemeClr val="accent6"/>
                </a:solidFill>
              </a:rPr>
              <a:t>entrevistas</a:t>
            </a:r>
            <a:r>
              <a:rPr lang="en-US" sz="1700" dirty="0">
                <a:solidFill>
                  <a:schemeClr val="accent6"/>
                </a:solidFill>
              </a:rPr>
              <a:t>, </a:t>
            </a:r>
            <a:r>
              <a:rPr lang="en-US" sz="1700" dirty="0" err="1">
                <a:solidFill>
                  <a:schemeClr val="accent6"/>
                </a:solidFill>
              </a:rPr>
              <a:t>encuestas</a:t>
            </a:r>
            <a:r>
              <a:rPr lang="en-US" sz="1700" dirty="0">
                <a:solidFill>
                  <a:schemeClr val="accent6"/>
                </a:solidFill>
              </a:rPr>
              <a:t> y </a:t>
            </a:r>
            <a:r>
              <a:rPr lang="en-US" sz="1700" dirty="0" err="1">
                <a:solidFill>
                  <a:schemeClr val="accent6"/>
                </a:solidFill>
              </a:rPr>
              <a:t>análisis</a:t>
            </a:r>
            <a:r>
              <a:rPr lang="en-US" sz="1700" dirty="0">
                <a:solidFill>
                  <a:schemeClr val="accent6"/>
                </a:solidFill>
              </a:rPr>
              <a:t> del </a:t>
            </a:r>
            <a:r>
              <a:rPr lang="en-US" sz="1700" dirty="0" err="1">
                <a:solidFill>
                  <a:schemeClr val="accent6"/>
                </a:solidFill>
              </a:rPr>
              <a:t>proceso</a:t>
            </a:r>
            <a:r>
              <a:rPr lang="en-US" sz="1700" dirty="0">
                <a:solidFill>
                  <a:schemeClr val="accent6"/>
                </a:solidFill>
              </a:rPr>
              <a:t> actual</a:t>
            </a:r>
            <a:endParaRPr lang="es-ES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29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19856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¿Qué desarrollamos?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0390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MVP web multi-</a:t>
            </a:r>
            <a:r>
              <a:rPr lang="en-US" sz="1700" dirty="0" err="1">
                <a:solidFill>
                  <a:schemeClr val="accent6"/>
                </a:solidFill>
              </a:rPr>
              <a:t>empresa</a:t>
            </a:r>
            <a:r>
              <a:rPr lang="en-US" sz="1700" dirty="0">
                <a:solidFill>
                  <a:schemeClr val="accent6"/>
                </a:solidFill>
              </a:rPr>
              <a:t> </a:t>
            </a:r>
            <a:endParaRPr lang="en-US" sz="1700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462272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62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5254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¿Cómo lo desarrollamos?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73659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700">
                <a:solidFill>
                  <a:schemeClr val="accent6"/>
                </a:solidFill>
                <a:ea typeface="+mn-lt"/>
                <a:cs typeface="+mn-lt"/>
              </a:rPr>
              <a:t>Django, Python, MySQL, HTML, CSS, Bootstrap y JavaScript</a:t>
            </a:r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502920" cy="502920"/>
          </a:xfrm>
          <a:prstGeom prst="ellipse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8523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¿Cómo demostramos que cumple?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6692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6"/>
                </a:solidFill>
              </a:rPr>
              <a:t>Pruebas con resultados reales</a:t>
            </a:r>
            <a:endParaRPr lang="en-US" sz="1700" dirty="0"/>
          </a:p>
        </p:txBody>
      </p:sp>
      <p:sp>
        <p:nvSpPr>
          <p:cNvPr id="24" name="proximos"/>
          <p:cNvSpPr/>
          <p:nvPr/>
        </p:nvSpPr>
        <p:spPr>
          <a:xfrm>
            <a:off x="7086600" y="1554480"/>
            <a:ext cx="4553712" cy="4663440"/>
          </a:xfrm>
          <a:prstGeom prst="roundRect">
            <a:avLst>
              <a:gd name="adj" fmla="val 2008"/>
            </a:avLst>
          </a:prstGeom>
          <a:solidFill>
            <a:srgbClr val="E0E7F1"/>
          </a:solidFill>
          <a:ln w="6350">
            <a:solidFill>
              <a:srgbClr val="E0E7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0" y="1737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Próximos pasos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37744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Entrevistas de validación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RNF de disponibilidad y respaldo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Corregir hallazgos del código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Desplegar en un servidor</a:t>
            </a:r>
            <a:endParaRPr lang="en-US" sz="18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Prueba de aceptación (UAT)</a:t>
            </a:r>
            <a:endParaRPr lang="en-US" sz="18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AXEL Claro">
  <a:themeElements>
    <a:clrScheme name="SEMAXEL Claro">
      <a:dk1>
        <a:srgbClr val="1E293B"/>
      </a:dk1>
      <a:lt1>
        <a:srgbClr val="FFFFFF"/>
      </a:lt1>
      <a:dk2>
        <a:srgbClr val="17365D"/>
      </a:dk2>
      <a:lt2>
        <a:srgbClr val="F1F5F9"/>
      </a:lt2>
      <a:accent1>
        <a:srgbClr val="17365D"/>
      </a:accent1>
      <a:accent2>
        <a:srgbClr val="F59E0B"/>
      </a:accent2>
      <a:accent3>
        <a:srgbClr val="2563EB"/>
      </a:accent3>
      <a:accent4>
        <a:srgbClr val="16A34A"/>
      </a:accent4>
      <a:accent5>
        <a:srgbClr val="DC2626"/>
      </a:accent5>
      <a:accent6>
        <a:srgbClr val="64748B"/>
      </a:accent6>
      <a:hlink>
        <a:srgbClr val="2563EB"/>
      </a:hlink>
      <a:folHlink>
        <a:srgbClr val="7C3AED"/>
      </a:folHlink>
    </a:clrScheme>
    <a:fontScheme name="SEMAXEL Clar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19</Slides>
  <Notes>19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SEMAXEL Claro</vt:lpstr>
      <vt:lpstr>SEMAXEL</vt:lpstr>
      <vt:lpstr>Esta presentación responde 5 preguntas</vt:lpstr>
      <vt:lpstr>El mantenimiento se coordina por canales informales</vt:lpstr>
      <vt:lpstr>Todavía no tenemos contraparte real: lo validaremos</vt:lpstr>
      <vt:lpstr>Objetivos medibles, sin promesas absolutas</vt:lpstr>
      <vt:lpstr>Alcance del MVP: qué entra y qué queda fuera</vt:lpstr>
      <vt:lpstr>Qué puede hacer cada usuario</vt:lpstr>
      <vt:lpstr>Flujo del mantenimiento y reglas de negocio</vt:lpstr>
      <vt:lpstr>Cómo se calcula y controla el SLA</vt:lpstr>
      <vt:lpstr>38 requisitos funcionales y 16 no funcionales</vt:lpstr>
      <vt:lpstr>Scrum aplicado: artefactos y definición de terminado</vt:lpstr>
      <vt:lpstr>Evidencia en Jira: backlog, sprints y responsables</vt:lpstr>
      <vt:lpstr>16 semanas en 4 incrementos, con hitos y responsables</vt:lpstr>
      <vt:lpstr>Arquitectura web en capas, multi-empresa</vt:lpstr>
      <vt:lpstr>Modelo de datos: entidades principales</vt:lpstr>
      <vt:lpstr>El sistema ya está implementado y funciona</vt:lpstr>
      <vt:lpstr>Dashboard y reportes calculados por el sistema</vt:lpstr>
      <vt:lpstr>Pruebas automatizadas y del flujo completo</vt:lpstr>
      <vt:lpstr>Respuestas a las 5 preguntas y próximos pasos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SEMAXEL - Entrega 2</dc:title>
  <dc:subject>Proyecto Capstone PTY4614 - Entrega 2</dc:subject>
  <dc:creator>Equipo SEMAXEL</dc:creator>
  <cp:lastModifiedBy>Equipo SEMAXEL</cp:lastModifiedBy>
  <cp:revision>17</cp:revision>
  <dcterms:created xsi:type="dcterms:W3CDTF">2026-10-15T02:09:52Z</dcterms:created>
  <dcterms:modified xsi:type="dcterms:W3CDTF">2026-10-15T05:37:40Z</dcterms:modified>
</cp:coreProperties>
</file>